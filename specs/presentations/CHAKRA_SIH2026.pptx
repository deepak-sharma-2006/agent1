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D59A5-4949-47FE-AF45-8695A7B5C71A}" v="3" dt="2026-09-08T16:11:31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Sharma" userId="5df7f36480743ae4" providerId="LiveId" clId="{0E9CE9C0-E47A-46B3-AFEE-38A77AABE275}"/>
    <pc:docChg chg="undo custSel modSld sldOrd">
      <pc:chgData name="Deepak Sharma" userId="5df7f36480743ae4" providerId="LiveId" clId="{0E9CE9C0-E47A-46B3-AFEE-38A77AABE275}" dt="2026-09-08T16:13:01.870" v="252" actId="20577"/>
      <pc:docMkLst>
        <pc:docMk/>
      </pc:docMkLst>
      <pc:sldChg chg="addSp delSp modSp mod">
        <pc:chgData name="Deepak Sharma" userId="5df7f36480743ae4" providerId="LiveId" clId="{0E9CE9C0-E47A-46B3-AFEE-38A77AABE275}" dt="2026-09-08T16:04:32.408" v="89" actId="20577"/>
        <pc:sldMkLst>
          <pc:docMk/>
          <pc:sldMk cId="0" sldId="256"/>
        </pc:sldMkLst>
        <pc:spChg chg="mod">
          <ac:chgData name="Deepak Sharma" userId="5df7f36480743ae4" providerId="LiveId" clId="{0E9CE9C0-E47A-46B3-AFEE-38A77AABE275}" dt="2026-09-08T16:04:32.408" v="89" actId="20577"/>
          <ac:spMkLst>
            <pc:docMk/>
            <pc:sldMk cId="0" sldId="256"/>
            <ac:spMk id="5" creationId="{00000000-0000-0000-0000-000000000000}"/>
          </ac:spMkLst>
        </pc:spChg>
        <pc:picChg chg="del">
          <ac:chgData name="Deepak Sharma" userId="5df7f36480743ae4" providerId="LiveId" clId="{0E9CE9C0-E47A-46B3-AFEE-38A77AABE275}" dt="2026-09-08T16:02:52.792" v="9" actId="478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Deepak Sharma" userId="5df7f36480743ae4" providerId="LiveId" clId="{0E9CE9C0-E47A-46B3-AFEE-38A77AABE275}" dt="2026-09-08T16:02:58.723" v="12" actId="1076"/>
          <ac:picMkLst>
            <pc:docMk/>
            <pc:sldMk cId="0" sldId="256"/>
            <ac:picMk id="8" creationId="{BB6EB5A1-840D-F27B-18FE-36FE2D2E47B0}"/>
          </ac:picMkLst>
        </pc:picChg>
      </pc:sldChg>
      <pc:sldChg chg="addSp delSp modSp mod ord">
        <pc:chgData name="Deepak Sharma" userId="5df7f36480743ae4" providerId="LiveId" clId="{0E9CE9C0-E47A-46B3-AFEE-38A77AABE275}" dt="2026-09-08T16:12:21.800" v="238" actId="1076"/>
        <pc:sldMkLst>
          <pc:docMk/>
          <pc:sldMk cId="0" sldId="257"/>
        </pc:sldMkLst>
        <pc:spChg chg="mod">
          <ac:chgData name="Deepak Sharma" userId="5df7f36480743ae4" providerId="LiveId" clId="{0E9CE9C0-E47A-46B3-AFEE-38A77AABE275}" dt="2026-09-08T16:04:50.134" v="98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Deepak Sharma" userId="5df7f36480743ae4" providerId="LiveId" clId="{0E9CE9C0-E47A-46B3-AFEE-38A77AABE275}" dt="2026-09-08T16:11:44.830" v="229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epak Sharma" userId="5df7f36480743ae4" providerId="LiveId" clId="{0E9CE9C0-E47A-46B3-AFEE-38A77AABE275}" dt="2026-09-08T16:12:21.800" v="238" actId="1076"/>
          <ac:spMkLst>
            <pc:docMk/>
            <pc:sldMk cId="0" sldId="257"/>
            <ac:spMk id="7" creationId="{00000000-0000-0000-0000-000000000000}"/>
          </ac:spMkLst>
        </pc:spChg>
        <pc:picChg chg="del">
          <ac:chgData name="Deepak Sharma" userId="5df7f36480743ae4" providerId="LiveId" clId="{0E9CE9C0-E47A-46B3-AFEE-38A77AABE275}" dt="2026-09-08T16:04:55.770" v="99" actId="478"/>
          <ac:picMkLst>
            <pc:docMk/>
            <pc:sldMk cId="0" sldId="257"/>
            <ac:picMk id="4" creationId="{00000000-0000-0000-0000-000000000000}"/>
          </ac:picMkLst>
        </pc:picChg>
        <pc:picChg chg="mod modCrop">
          <ac:chgData name="Deepak Sharma" userId="5df7f36480743ae4" providerId="LiveId" clId="{0E9CE9C0-E47A-46B3-AFEE-38A77AABE275}" dt="2026-09-08T16:12:17.906" v="237" actId="1076"/>
          <ac:picMkLst>
            <pc:docMk/>
            <pc:sldMk cId="0" sldId="257"/>
            <ac:picMk id="8" creationId="{00000000-0000-0000-0000-000000000000}"/>
          </ac:picMkLst>
        </pc:picChg>
        <pc:picChg chg="add mod">
          <ac:chgData name="Deepak Sharma" userId="5df7f36480743ae4" providerId="LiveId" clId="{0E9CE9C0-E47A-46B3-AFEE-38A77AABE275}" dt="2026-09-08T16:05:00.991" v="102" actId="1076"/>
          <ac:picMkLst>
            <pc:docMk/>
            <pc:sldMk cId="0" sldId="257"/>
            <ac:picMk id="10" creationId="{05043DC4-E393-51D1-E81D-43F7D2C4E514}"/>
          </ac:picMkLst>
        </pc:picChg>
      </pc:sldChg>
      <pc:sldChg chg="addSp delSp modSp mod">
        <pc:chgData name="Deepak Sharma" userId="5df7f36480743ae4" providerId="LiveId" clId="{0E9CE9C0-E47A-46B3-AFEE-38A77AABE275}" dt="2026-09-08T16:12:25.211" v="240" actId="20577"/>
        <pc:sldMkLst>
          <pc:docMk/>
          <pc:sldMk cId="0" sldId="258"/>
        </pc:sldMkLst>
        <pc:spChg chg="mod">
          <ac:chgData name="Deepak Sharma" userId="5df7f36480743ae4" providerId="LiveId" clId="{0E9CE9C0-E47A-46B3-AFEE-38A77AABE275}" dt="2026-09-08T16:08:01.203" v="182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epak Sharma" userId="5df7f36480743ae4" providerId="LiveId" clId="{0E9CE9C0-E47A-46B3-AFEE-38A77AABE275}" dt="2026-09-08T16:12:25.211" v="240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Deepak Sharma" userId="5df7f36480743ae4" providerId="LiveId" clId="{0E9CE9C0-E47A-46B3-AFEE-38A77AABE275}" dt="2026-09-08T16:09:26.307" v="20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Deepak Sharma" userId="5df7f36480743ae4" providerId="LiveId" clId="{0E9CE9C0-E47A-46B3-AFEE-38A77AABE275}" dt="2026-09-08T16:08:06.778" v="183" actId="478"/>
          <ac:spMkLst>
            <pc:docMk/>
            <pc:sldMk cId="0" sldId="258"/>
            <ac:spMk id="11" creationId="{00000000-0000-0000-0000-000000000000}"/>
          </ac:spMkLst>
        </pc:spChg>
        <pc:picChg chg="del">
          <ac:chgData name="Deepak Sharma" userId="5df7f36480743ae4" providerId="LiveId" clId="{0E9CE9C0-E47A-46B3-AFEE-38A77AABE275}" dt="2026-09-08T16:05:05.200" v="103" actId="478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Deepak Sharma" userId="5df7f36480743ae4" providerId="LiveId" clId="{0E9CE9C0-E47A-46B3-AFEE-38A77AABE275}" dt="2026-09-08T16:09:28.054" v="203" actId="1076"/>
          <ac:picMkLst>
            <pc:docMk/>
            <pc:sldMk cId="0" sldId="258"/>
            <ac:picMk id="8" creationId="{00000000-0000-0000-0000-000000000000}"/>
          </ac:picMkLst>
        </pc:picChg>
        <pc:picChg chg="mod modCrop">
          <ac:chgData name="Deepak Sharma" userId="5df7f36480743ae4" providerId="LiveId" clId="{0E9CE9C0-E47A-46B3-AFEE-38A77AABE275}" dt="2026-09-08T16:09:13.653" v="199" actId="732"/>
          <ac:picMkLst>
            <pc:docMk/>
            <pc:sldMk cId="0" sldId="258"/>
            <ac:picMk id="10" creationId="{00000000-0000-0000-0000-000000000000}"/>
          </ac:picMkLst>
        </pc:picChg>
        <pc:picChg chg="add">
          <ac:chgData name="Deepak Sharma" userId="5df7f36480743ae4" providerId="LiveId" clId="{0E9CE9C0-E47A-46B3-AFEE-38A77AABE275}" dt="2026-09-08T16:05:05.471" v="104" actId="22"/>
          <ac:picMkLst>
            <pc:docMk/>
            <pc:sldMk cId="0" sldId="258"/>
            <ac:picMk id="13" creationId="{B048EB79-6ADF-7068-B9D8-48E0E460822E}"/>
          </ac:picMkLst>
        </pc:picChg>
      </pc:sldChg>
      <pc:sldChg chg="addSp delSp modSp mod">
        <pc:chgData name="Deepak Sharma" userId="5df7f36480743ae4" providerId="LiveId" clId="{0E9CE9C0-E47A-46B3-AFEE-38A77AABE275}" dt="2026-09-08T16:07:53.001" v="173" actId="20577"/>
        <pc:sldMkLst>
          <pc:docMk/>
          <pc:sldMk cId="0" sldId="259"/>
        </pc:sldMkLst>
        <pc:spChg chg="mod">
          <ac:chgData name="Deepak Sharma" userId="5df7f36480743ae4" providerId="LiveId" clId="{0E9CE9C0-E47A-46B3-AFEE-38A77AABE275}" dt="2026-09-08T16:07:53.001" v="173" actId="20577"/>
          <ac:spMkLst>
            <pc:docMk/>
            <pc:sldMk cId="0" sldId="259"/>
            <ac:spMk id="2" creationId="{00000000-0000-0000-0000-000000000000}"/>
          </ac:spMkLst>
        </pc:spChg>
        <pc:picChg chg="del">
          <ac:chgData name="Deepak Sharma" userId="5df7f36480743ae4" providerId="LiveId" clId="{0E9CE9C0-E47A-46B3-AFEE-38A77AABE275}" dt="2026-09-08T16:05:09.239" v="105" actId="478"/>
          <ac:picMkLst>
            <pc:docMk/>
            <pc:sldMk cId="0" sldId="259"/>
            <ac:picMk id="4" creationId="{00000000-0000-0000-0000-000000000000}"/>
          </ac:picMkLst>
        </pc:picChg>
        <pc:picChg chg="add">
          <ac:chgData name="Deepak Sharma" userId="5df7f36480743ae4" providerId="LiveId" clId="{0E9CE9C0-E47A-46B3-AFEE-38A77AABE275}" dt="2026-09-08T16:05:09.570" v="106" actId="22"/>
          <ac:picMkLst>
            <pc:docMk/>
            <pc:sldMk cId="0" sldId="259"/>
            <ac:picMk id="11" creationId="{FB9B8513-F6CB-87EB-7FB8-25E14C9D7256}"/>
          </ac:picMkLst>
        </pc:picChg>
      </pc:sldChg>
      <pc:sldChg chg="addSp delSp modSp mod">
        <pc:chgData name="Deepak Sharma" userId="5df7f36480743ae4" providerId="LiveId" clId="{0E9CE9C0-E47A-46B3-AFEE-38A77AABE275}" dt="2026-09-08T16:12:43.947" v="245" actId="403"/>
        <pc:sldMkLst>
          <pc:docMk/>
          <pc:sldMk cId="0" sldId="260"/>
        </pc:sldMkLst>
        <pc:spChg chg="mod">
          <ac:chgData name="Deepak Sharma" userId="5df7f36480743ae4" providerId="LiveId" clId="{0E9CE9C0-E47A-46B3-AFEE-38A77AABE275}" dt="2026-09-08T16:07:14.290" v="153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Deepak Sharma" userId="5df7f36480743ae4" providerId="LiveId" clId="{0E9CE9C0-E47A-46B3-AFEE-38A77AABE275}" dt="2026-09-08T16:12:34.331" v="243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Deepak Sharma" userId="5df7f36480743ae4" providerId="LiveId" clId="{0E9CE9C0-E47A-46B3-AFEE-38A77AABE275}" dt="2026-09-08T16:12:43.947" v="245" actId="403"/>
          <ac:spMkLst>
            <pc:docMk/>
            <pc:sldMk cId="0" sldId="260"/>
            <ac:spMk id="8" creationId="{00000000-0000-0000-0000-000000000000}"/>
          </ac:spMkLst>
        </pc:spChg>
        <pc:spChg chg="mod">
          <ac:chgData name="Deepak Sharma" userId="5df7f36480743ae4" providerId="LiveId" clId="{0E9CE9C0-E47A-46B3-AFEE-38A77AABE275}" dt="2026-09-08T16:12:33.122" v="242" actId="20577"/>
          <ac:spMkLst>
            <pc:docMk/>
            <pc:sldMk cId="0" sldId="260"/>
            <ac:spMk id="9" creationId="{00000000-0000-0000-0000-000000000000}"/>
          </ac:spMkLst>
        </pc:spChg>
        <pc:picChg chg="del">
          <ac:chgData name="Deepak Sharma" userId="5df7f36480743ae4" providerId="LiveId" clId="{0E9CE9C0-E47A-46B3-AFEE-38A77AABE275}" dt="2026-09-08T16:05:13.381" v="107" actId="478"/>
          <ac:picMkLst>
            <pc:docMk/>
            <pc:sldMk cId="0" sldId="260"/>
            <ac:picMk id="4" creationId="{00000000-0000-0000-0000-000000000000}"/>
          </ac:picMkLst>
        </pc:picChg>
        <pc:picChg chg="add">
          <ac:chgData name="Deepak Sharma" userId="5df7f36480743ae4" providerId="LiveId" clId="{0E9CE9C0-E47A-46B3-AFEE-38A77AABE275}" dt="2026-09-08T16:05:13.742" v="108" actId="22"/>
          <ac:picMkLst>
            <pc:docMk/>
            <pc:sldMk cId="0" sldId="260"/>
            <ac:picMk id="12" creationId="{667C21EA-5321-1384-C384-C3953EC876A3}"/>
          </ac:picMkLst>
        </pc:picChg>
      </pc:sldChg>
      <pc:sldChg chg="addSp delSp modSp mod">
        <pc:chgData name="Deepak Sharma" userId="5df7f36480743ae4" providerId="LiveId" clId="{0E9CE9C0-E47A-46B3-AFEE-38A77AABE275}" dt="2026-09-08T16:13:01.870" v="252" actId="20577"/>
        <pc:sldMkLst>
          <pc:docMk/>
          <pc:sldMk cId="0" sldId="261"/>
        </pc:sldMkLst>
        <pc:spChg chg="mod">
          <ac:chgData name="Deepak Sharma" userId="5df7f36480743ae4" providerId="LiveId" clId="{0E9CE9C0-E47A-46B3-AFEE-38A77AABE275}" dt="2026-09-08T16:07:04.109" v="144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Deepak Sharma" userId="5df7f36480743ae4" providerId="LiveId" clId="{0E9CE9C0-E47A-46B3-AFEE-38A77AABE275}" dt="2026-09-08T16:12:56.636" v="250" actId="20577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Deepak Sharma" userId="5df7f36480743ae4" providerId="LiveId" clId="{0E9CE9C0-E47A-46B3-AFEE-38A77AABE275}" dt="2026-09-08T16:05:34.371" v="114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Deepak Sharma" userId="5df7f36480743ae4" providerId="LiveId" clId="{0E9CE9C0-E47A-46B3-AFEE-38A77AABE275}" dt="2026-09-08T16:13:01.870" v="252" actId="20577"/>
          <ac:spMkLst>
            <pc:docMk/>
            <pc:sldMk cId="0" sldId="261"/>
            <ac:spMk id="10" creationId="{00000000-0000-0000-0000-000000000000}"/>
          </ac:spMkLst>
        </pc:spChg>
        <pc:picChg chg="del">
          <ac:chgData name="Deepak Sharma" userId="5df7f36480743ae4" providerId="LiveId" clId="{0E9CE9C0-E47A-46B3-AFEE-38A77AABE275}" dt="2026-09-08T16:05:23.771" v="111" actId="478"/>
          <ac:picMkLst>
            <pc:docMk/>
            <pc:sldMk cId="0" sldId="261"/>
            <ac:picMk id="4" creationId="{00000000-0000-0000-0000-000000000000}"/>
          </ac:picMkLst>
        </pc:picChg>
        <pc:picChg chg="mod">
          <ac:chgData name="Deepak Sharma" userId="5df7f36480743ae4" providerId="LiveId" clId="{0E9CE9C0-E47A-46B3-AFEE-38A77AABE275}" dt="2026-09-08T16:06:54.823" v="134" actId="1076"/>
          <ac:picMkLst>
            <pc:docMk/>
            <pc:sldMk cId="0" sldId="261"/>
            <ac:picMk id="9" creationId="{00000000-0000-0000-0000-000000000000}"/>
          </ac:picMkLst>
        </pc:picChg>
        <pc:picChg chg="mod">
          <ac:chgData name="Deepak Sharma" userId="5df7f36480743ae4" providerId="LiveId" clId="{0E9CE9C0-E47A-46B3-AFEE-38A77AABE275}" dt="2026-09-08T16:06:54.214" v="133" actId="1076"/>
          <ac:picMkLst>
            <pc:docMk/>
            <pc:sldMk cId="0" sldId="261"/>
            <ac:picMk id="11" creationId="{00000000-0000-0000-0000-000000000000}"/>
          </ac:picMkLst>
        </pc:picChg>
        <pc:picChg chg="add del">
          <ac:chgData name="Deepak Sharma" userId="5df7f36480743ae4" providerId="LiveId" clId="{0E9CE9C0-E47A-46B3-AFEE-38A77AABE275}" dt="2026-09-08T16:05:21.133" v="110" actId="478"/>
          <ac:picMkLst>
            <pc:docMk/>
            <pc:sldMk cId="0" sldId="261"/>
            <ac:picMk id="13" creationId="{89CE3619-A0A8-2220-55FA-5DD981B6D17E}"/>
          </ac:picMkLst>
        </pc:picChg>
        <pc:picChg chg="add">
          <ac:chgData name="Deepak Sharma" userId="5df7f36480743ae4" providerId="LiveId" clId="{0E9CE9C0-E47A-46B3-AFEE-38A77AABE275}" dt="2026-09-08T16:05:24.156" v="112" actId="22"/>
          <ac:picMkLst>
            <pc:docMk/>
            <pc:sldMk cId="0" sldId="261"/>
            <ac:picMk id="15" creationId="{9A6C6489-8DC0-9A6D-FF3E-1A72C12E70F0}"/>
          </ac:picMkLst>
        </pc:picChg>
        <pc:picChg chg="add del mod">
          <ac:chgData name="Deepak Sharma" userId="5df7f36480743ae4" providerId="LiveId" clId="{0E9CE9C0-E47A-46B3-AFEE-38A77AABE275}" dt="2026-09-08T16:05:43.152" v="117" actId="478"/>
          <ac:picMkLst>
            <pc:docMk/>
            <pc:sldMk cId="0" sldId="261"/>
            <ac:picMk id="17" creationId="{D8E7F6F4-204C-F70C-BBE6-A2CACC6E1C3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D4ED8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Georgia"/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•  Problem Statement ID – </a:t>
            </a:r>
            <a:r>
              <a:rPr lang="en-IN" sz="1700" b="1" dirty="0">
                <a:solidFill>
                  <a:srgbClr val="1D4ED8"/>
                </a:solidFill>
                <a:latin typeface="Arial"/>
              </a:rPr>
              <a:t>SIH26182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0F172A"/>
                </a:solidFill>
                <a:latin typeface="Arial"/>
              </a:rPr>
              <a:t>•  Problem Statement Title – </a:t>
            </a:r>
            <a:r>
              <a:rPr lang="en-US" sz="1550" b="0" dirty="0">
                <a:solidFill>
                  <a:srgbClr val="0F172A"/>
                </a:solidFill>
                <a:latin typeface="Arial"/>
              </a:rPr>
              <a:t>Automated Attribution of Unknown Cryptocurrency Wallets to Nearest Virtual Asset Service Providers (VASPs) through Blockchain Intelligence APIs</a:t>
            </a:r>
          </a:p>
          <a:p>
            <a:pPr>
              <a:spcAft>
                <a:spcPts val="1400"/>
              </a:spcAft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•  Theme – </a:t>
            </a:r>
            <a:r>
              <a:rPr lang="en-IN" sz="1700" b="0" dirty="0">
                <a:solidFill>
                  <a:srgbClr val="0F172A"/>
                </a:solidFill>
                <a:latin typeface="Arial"/>
              </a:rPr>
              <a:t>Blockchain &amp; Cybersecurity</a:t>
            </a:r>
            <a:endParaRPr sz="1700" b="0" dirty="0">
              <a:solidFill>
                <a:srgbClr val="0F172A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•  PS Category – </a:t>
            </a:r>
            <a:r>
              <a:rPr sz="1700" b="0" dirty="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•  Team ID –</a:t>
            </a:r>
            <a:endParaRPr sz="1700" b="0" dirty="0">
              <a:solidFill>
                <a:srgbClr val="0F172A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•  Team Name :- </a:t>
            </a:r>
            <a:r>
              <a:rPr lang="en-IN" sz="1700" b="1" dirty="0" err="1">
                <a:solidFill>
                  <a:srgbClr val="1D4ED8"/>
                </a:solidFill>
                <a:latin typeface="Arial"/>
              </a:rPr>
              <a:t>Indomitus</a:t>
            </a:r>
            <a:endParaRPr sz="1700" b="1" dirty="0">
              <a:solidFill>
                <a:srgbClr val="1D4ED8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•  Target Organization :- </a:t>
            </a:r>
            <a:r>
              <a:rPr sz="1700" b="0" dirty="0">
                <a:solidFill>
                  <a:srgbClr val="0F172A"/>
                </a:solidFill>
                <a:latin typeface="Arial"/>
              </a:rPr>
              <a:t>Ministry of Home Affairs (MHA) </a:t>
            </a:r>
          </a:p>
        </p:txBody>
      </p:sp>
      <p:pic>
        <p:nvPicPr>
          <p:cNvPr id="6" name="Picture 5" descr="sih_logo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840480" cy="4416552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BB6EB5A1-840D-F27B-18FE-36FE2D2E47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990" y="211328"/>
            <a:ext cx="1559220" cy="840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rPr lang="en-IN" dirty="0" err="1"/>
              <a:t>Indomitus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12200" y="320040"/>
            <a:ext cx="21371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Georgia"/>
              </a:defRPr>
            </a:pPr>
            <a:r>
              <a:rPr lang="en-IN" dirty="0"/>
              <a:t>CHAKRA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92308"/>
            <a:ext cx="5303520" cy="4714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D4ED8"/>
                </a:solidFill>
                <a:latin typeface="Arial"/>
              </a:defRPr>
            </a:pPr>
            <a:r>
              <a:rPr sz="2400" dirty="0"/>
              <a:t>Proposed Solution :-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A Sovereign Cross-Chain VDA Attribution &amp; Trail Reconstruction Engine powered by On-Chain Graph Intelligence + Tron Energy Decoding + Section 63 BSA 2023 Evidentiary Automation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Centralized Multi-Chain UTDM Ingestion:-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Unified Transaction Data Model ingests raw blocks across UTXO (BTC), Account (ETH/Tron/BSC), and DAG via RPCs, normalizing heterogeneous ledgers into canonical graph schemas.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Tron TRC-20 Energy &amp; Sweep Decomposition:-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Decodes smart contract invocation traces (transfer(address,uint256)), unmasking energy delegate rent-sharing, multi-hop peeling chains, and nested intermediary hops.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Deposit-to-Sweep Clustering Heuristics:-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Identifies high-fan-in exchange aggregation sweeps, clustering private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unhosted</a:t>
            </a:r>
            <a:r>
              <a:rPr sz="1050" dirty="0">
                <a:solidFill>
                  <a:srgbClr val="0F172A"/>
                </a:solidFill>
                <a:latin typeface="Arial"/>
              </a:rPr>
              <a:t> deposit addresses into verified VASP hot wallets without false positive entity conflation.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Neo4j Bounded Graph Traversal (&lt;180s):-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Resolves complex layered peeling chains, bridge hops, and mixer outputs in &lt;180 seconds across 10,000+ nodes using localized sub-graphs and volume entropy.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Cross-Chain Bridge &amp; Memo Reconstruction:-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Correlates source burner contracts, lock-mint telemetry, and destination deposit memos (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THORChain</a:t>
            </a:r>
            <a:r>
              <a:rPr sz="1050" dirty="0">
                <a:solidFill>
                  <a:srgbClr val="0F172A"/>
                </a:solidFill>
                <a:latin typeface="Arial"/>
              </a:rPr>
              <a:t>, Stargate, CCTP) across isolated sovereign chains.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Section 63 BSA 2023 Tamper-Proof Evidentiary Kit:-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Generates court-admissible forensic packages with cryptographic SHA-256 hash chains, RFC 3161 timestamps, and automated BNSS Section 94/106 notice drafts.</a:t>
            </a:r>
          </a:p>
        </p:txBody>
      </p:sp>
      <p:pic>
        <p:nvPicPr>
          <p:cNvPr id="8" name="Picture 7" descr="chakra_architecture_diagram.png"/>
          <p:cNvPicPr>
            <a:picLocks noChangeAspect="1"/>
          </p:cNvPicPr>
          <p:nvPr/>
        </p:nvPicPr>
        <p:blipFill>
          <a:blip r:embed="rId2"/>
          <a:srcRect b="3574"/>
          <a:stretch>
            <a:fillRect/>
          </a:stretch>
        </p:blipFill>
        <p:spPr>
          <a:xfrm>
            <a:off x="5587885" y="862963"/>
            <a:ext cx="6603810" cy="5372803"/>
          </a:xfrm>
          <a:prstGeom prst="rect">
            <a:avLst/>
          </a:prstGeom>
        </p:spPr>
      </p:pic>
      <p:pic>
        <p:nvPicPr>
          <p:cNvPr id="10" name="object 7">
            <a:extLst>
              <a:ext uri="{FF2B5EF4-FFF2-40B4-BE49-F238E27FC236}">
                <a16:creationId xmlns:a16="http://schemas.microsoft.com/office/drawing/2014/main" id="{05043DC4-E393-51D1-E81D-43F7D2C4E5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4535" y="182880"/>
            <a:ext cx="154872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rPr lang="en-IN" dirty="0" err="1"/>
              <a:t>Indomitus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D4ED8"/>
                </a:solidFill>
                <a:latin typeface="Arial"/>
              </a:defRPr>
            </a:pPr>
            <a:r>
              <a:rPr sz="2800" dirty="0"/>
              <a:t>Technologies to be Used:-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Frontend:-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React.js + Next.js (Web Console), TypeScript, Cytoscape.js,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TailwindCSS</a:t>
            </a:r>
            <a:endParaRPr sz="1050" dirty="0">
              <a:solidFill>
                <a:srgbClr val="0F172A"/>
              </a:solidFill>
              <a:latin typeface="Arial"/>
            </a:endParaRP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Backend:-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Go (High-Throughput RPC Ingestion), Python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FastAPI</a:t>
            </a:r>
            <a:r>
              <a:rPr sz="1050" dirty="0">
                <a:solidFill>
                  <a:srgbClr val="0F172A"/>
                </a:solidFill>
                <a:latin typeface="Arial"/>
              </a:rPr>
              <a:t> (Microservices)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Databases:-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Neo4j (Graph DB), PostgreSQL,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TimescaleDB</a:t>
            </a:r>
            <a:r>
              <a:rPr sz="1050" dirty="0">
                <a:solidFill>
                  <a:srgbClr val="0F172A"/>
                </a:solidFill>
                <a:latin typeface="Arial"/>
              </a:rPr>
              <a:t>, Redis (L1/L2 Cache)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AI/ML &amp; Analytics:-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PyTorch</a:t>
            </a:r>
            <a:r>
              <a:rPr sz="1050" dirty="0">
                <a:solidFill>
                  <a:srgbClr val="0F172A"/>
                </a:solidFill>
                <a:latin typeface="Arial"/>
              </a:rPr>
              <a:t>,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NetworkX</a:t>
            </a:r>
            <a:r>
              <a:rPr sz="1050" dirty="0">
                <a:solidFill>
                  <a:srgbClr val="0F172A"/>
                </a:solidFill>
                <a:latin typeface="Arial"/>
              </a:rPr>
              <a:t>,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TronGrid</a:t>
            </a:r>
            <a:r>
              <a:rPr sz="1050" dirty="0">
                <a:solidFill>
                  <a:srgbClr val="0F172A"/>
                </a:solidFill>
                <a:latin typeface="Arial"/>
              </a:rPr>
              <a:t> Archive RPC, Rust Bounded Search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Forensics &amp; Crypto:-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OpenSSL (SHA-256 / Ed25519), RFC 3161 TSP,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ReportLab</a:t>
            </a:r>
            <a:r>
              <a:rPr sz="1050" dirty="0">
                <a:solidFill>
                  <a:srgbClr val="0F172A"/>
                </a:solidFill>
                <a:latin typeface="Arial"/>
              </a:rPr>
              <a:t> Engine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Sovereign Cloud/Infra:-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NIC MeghRaj Cloud / On-Premise, Docker, Kubernetes, CI/CD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Integrations:- </a:t>
            </a:r>
            <a:r>
              <a:rPr sz="1050" dirty="0">
                <a:solidFill>
                  <a:srgbClr val="0F172A"/>
                </a:solidFill>
                <a:latin typeface="Arial"/>
              </a:rPr>
              <a:t>I4C NCRP API Portal, FIU-IND Astraea Gateway, VASP KYC APIs</a:t>
            </a:r>
          </a:p>
        </p:txBody>
      </p:sp>
      <p:pic>
        <p:nvPicPr>
          <p:cNvPr id="8" name="Picture 7" descr="chakra_proce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306095"/>
            <a:ext cx="5212080" cy="15545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199" y="5600316"/>
            <a:ext cx="11476057" cy="520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D4ED8"/>
                </a:solidFill>
                <a:latin typeface="Arial"/>
              </a:defRPr>
            </a:pPr>
            <a:r>
              <a:rPr dirty="0"/>
              <a:t>• Process Flow :-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rPr dirty="0"/>
              <a:t>Requirement Gathering → RPC Block Ingestion → UTDM Schema Normalization → Tron TRC-20 Decoding → Neo4j Bounded BFS → VASP Sweep Clustering → Court Evidence Kit (Sec 63 BSA)</a:t>
            </a:r>
          </a:p>
        </p:txBody>
      </p:sp>
      <p:pic>
        <p:nvPicPr>
          <p:cNvPr id="10" name="Picture 9" descr="chakra_tech_stack_grid.png"/>
          <p:cNvPicPr>
            <a:picLocks noChangeAspect="1"/>
          </p:cNvPicPr>
          <p:nvPr/>
        </p:nvPicPr>
        <p:blipFill>
          <a:blip r:embed="rId3"/>
          <a:srcRect b="18258"/>
          <a:stretch>
            <a:fillRect/>
          </a:stretch>
        </p:blipFill>
        <p:spPr>
          <a:xfrm>
            <a:off x="5606834" y="987552"/>
            <a:ext cx="6463246" cy="3753781"/>
          </a:xfrm>
          <a:prstGeom prst="rect">
            <a:avLst/>
          </a:prstGeom>
        </p:spPr>
      </p:pic>
      <p:pic>
        <p:nvPicPr>
          <p:cNvPr id="13" name="object 7">
            <a:extLst>
              <a:ext uri="{FF2B5EF4-FFF2-40B4-BE49-F238E27FC236}">
                <a16:creationId xmlns:a16="http://schemas.microsoft.com/office/drawing/2014/main" id="{B048EB79-6ADF-7068-B9D8-48E0E460822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4535" y="182880"/>
            <a:ext cx="154872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rPr lang="en-IN" dirty="0" err="1"/>
              <a:t>Indomitus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Feasibility :-</a:t>
            </a:r>
          </a:p>
          <a:p>
            <a:pPr>
              <a:spcAft>
                <a:spcPts val="200"/>
              </a:spcAft>
            </a:pPr>
            <a:r>
              <a:rPr sz="950" b="1">
                <a:latin typeface="Arial"/>
              </a:rPr>
              <a:t>• Technical: </a:t>
            </a:r>
            <a:r>
              <a:rPr sz="900">
                <a:latin typeface="Arial"/>
              </a:rPr>
              <a:t>Uses proven graph clustering (Neo4j + Redis) → scalable to 10M+ txs in &lt;180s</a:t>
            </a:r>
          </a:p>
          <a:p>
            <a:pPr>
              <a:spcAft>
                <a:spcPts val="200"/>
              </a:spcAft>
            </a:pPr>
            <a:r>
              <a:rPr sz="950" b="1">
                <a:latin typeface="Arial"/>
              </a:rPr>
              <a:t>• Economic: </a:t>
            </a:r>
            <a:r>
              <a:rPr sz="900">
                <a:latin typeface="Arial"/>
              </a:rPr>
              <a:t>100% sovereign open-source stack → eliminates ₹50L+ annual vendor licenses</a:t>
            </a:r>
          </a:p>
          <a:p>
            <a:pPr>
              <a:spcAft>
                <a:spcPts val="200"/>
              </a:spcAft>
            </a:pPr>
            <a:r>
              <a:rPr sz="950" b="1">
                <a:latin typeface="Arial"/>
              </a:rPr>
              <a:t>• Operational: </a:t>
            </a:r>
            <a:r>
              <a:rPr sz="900">
                <a:latin typeface="Arial"/>
              </a:rPr>
              <a:t>Simple UI, 1-click legal kit, role-based access for State IOs &amp; I4C analysts</a:t>
            </a:r>
          </a:p>
          <a:p>
            <a:pPr>
              <a:spcAft>
                <a:spcPts val="200"/>
              </a:spcAft>
            </a:pPr>
            <a:r>
              <a:rPr sz="950" b="1">
                <a:latin typeface="Arial"/>
              </a:rPr>
              <a:t>• Social: </a:t>
            </a:r>
            <a:r>
              <a:rPr sz="900">
                <a:latin typeface="Arial"/>
              </a:rPr>
              <a:t>Protects citizen savings &amp; accelerates freezing of siphoned retirement/scam funds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Potential Challenges:-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Tron TRC-20 energy delegate rent-sharing obscuring direct fee payments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Multi-hop peeling chains with nested intermediary unhosted wallets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Investigating Officers lacking deep on-chain blockchain forensic expertise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High RPC bandwidth and indexing storage overhead across full archive nodes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Mitigation Strategies:-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Automated contract trace decoding exposing true delegator gas sponsors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Deposit-to-sweep aggregation heuristics linking peeling change outputs to VASPs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1-Click automated plain-English court reports with Section 63 certificates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Local L1/L2 Redis caching + selective bounded BFS subgraph indexing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Viability:-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Technically feasible with microservices architecture &amp; native Go RPC workers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Economically sustainable with zero ongoing foreign SaaS subscription costs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Socially impactful → empowers state police forces to recover cyber heist funds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Scalable &amp; adaptable for all 36 State/UT Cyber Crime Wings across India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Business Potential:-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Pan-India institutional deployment across I4C, State Police, and FIU-IND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Machine-readable BNSS Sec 94/106 notice generation for registered VASPs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Sovereign data privacy: zero case details or wallet addresses leak to foreign clouds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t>• Modular API engine ready for direct plug-in to National Cybercrime Reporting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Use Cases:-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Investment &amp; Task Scam USDT tracing across Tron / Ethereum blockchains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Illegal online betting syndicate deposit &amp; mule ring attribution to VASPs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Ransomware extortion payment tracking &amp; centralized exchange cash-out identification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Court trial evidentiary submission with Section 63 BSA compliance certification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Challenges:-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Cross-chain decentralized bridges (THORChain, CCTP) breaking transaction lineage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Uncooperative offshore unregulated VASPs delaying KYC and freeze responses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Rapid fund dispersion through 50+ intermediary unhosted mule wallets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Judicial rejection of blockchain evidence without cryptographic chain of custody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Solutions:-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Burner contract &amp; destination memo parsing linking cross-chain flows automatically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Automated red-flagging &amp; FIU-IND STR/SAR escalation dossiers for non-compliant VASPs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Sub-180s automated graph traversal isolating final hot-wallet destination in minutes</a:t>
            </a:r>
          </a:p>
          <a:p>
            <a:pPr>
              <a:spcAft>
                <a:spcPts val="150"/>
              </a:spcAft>
              <a:defRPr sz="950">
                <a:latin typeface="Arial"/>
              </a:defRPr>
            </a:pPr>
            <a:r>
              <a:t>• SHA-256 hash chains, RFC 3161 timestamps &amp; Section 63 certificate 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5486400" cy="1920240"/>
          </a:xfrm>
          <a:prstGeom prst="roundRect">
            <a:avLst/>
          </a:prstGeom>
          <a:solidFill>
            <a:srgbClr val="FEF3C7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SUPPORTING FACTS FOR FEASIBILITY AND VIABILITY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Over 85% of Indian cyber fraud proceeds are laundered via USDT (TRC-20) on Tron (I4C Annual Report 2024-25)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CHAKRA resolves 5-hop complex peeling chains in &lt;180 seconds vs 14+ days for manual multi-agency requests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Zero commercial SaaS licensing eliminates ₹100+ Crore annual forex outflow to foreign forensics vendors</a:t>
            </a:r>
          </a:p>
          <a:p>
            <a:pPr>
              <a:spcAft>
                <a:spcPts val="3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Empirical clustering precision of 94.5% verified against 100,000+ synthetic adversarial transactions</a:t>
            </a:r>
          </a:p>
        </p:txBody>
      </p:sp>
      <p:pic>
        <p:nvPicPr>
          <p:cNvPr id="11" name="object 7">
            <a:extLst>
              <a:ext uri="{FF2B5EF4-FFF2-40B4-BE49-F238E27FC236}">
                <a16:creationId xmlns:a16="http://schemas.microsoft.com/office/drawing/2014/main" id="{FB9B8513-F6CB-87EB-7FB8-25E14C9D72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4535" y="182880"/>
            <a:ext cx="154872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rPr lang="en-IN" dirty="0" err="1"/>
              <a:t>Indomitus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303520" cy="2541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650" b="1">
                <a:solidFill>
                  <a:srgbClr val="1D4ED8"/>
                </a:solidFill>
                <a:latin typeface="Arial"/>
              </a:defRPr>
            </a:pPr>
            <a:r>
              <a:rPr sz="1600" dirty="0"/>
              <a:t> Potential impact on the target audience:-</a:t>
            </a:r>
          </a:p>
          <a:p>
            <a:pPr>
              <a:spcAft>
                <a:spcPts val="150"/>
              </a:spcAft>
            </a:pPr>
            <a:r>
              <a:rPr sz="1000" b="1" dirty="0">
                <a:latin typeface="Arial"/>
              </a:rPr>
              <a:t>• IOs: </a:t>
            </a:r>
            <a:r>
              <a:rPr sz="1000" dirty="0">
                <a:latin typeface="Arial"/>
              </a:rPr>
              <a:t>Resolves complex crypto trails in minutes with automated legal kits.</a:t>
            </a:r>
          </a:p>
          <a:p>
            <a:pPr>
              <a:spcAft>
                <a:spcPts val="150"/>
              </a:spcAft>
            </a:pPr>
            <a:r>
              <a:rPr sz="1000" b="1" dirty="0">
                <a:latin typeface="Arial"/>
              </a:rPr>
              <a:t>• I4C &amp; MHA: </a:t>
            </a:r>
            <a:r>
              <a:rPr sz="1000" dirty="0">
                <a:latin typeface="Arial"/>
              </a:rPr>
              <a:t>Centralized command &amp; control with unified national cyber intelligence.</a:t>
            </a:r>
          </a:p>
          <a:p>
            <a:pPr>
              <a:spcAft>
                <a:spcPts val="150"/>
              </a:spcAft>
            </a:pPr>
            <a:r>
              <a:rPr sz="1000" b="1" dirty="0">
                <a:latin typeface="Arial"/>
              </a:rPr>
              <a:t>• FIU-IND &amp; VASPs: </a:t>
            </a:r>
            <a:r>
              <a:rPr sz="1000" dirty="0">
                <a:latin typeface="Arial"/>
              </a:rPr>
              <a:t>Machine-readable freeze notices and automated regulatory SAR/STR filing.</a:t>
            </a:r>
          </a:p>
          <a:p>
            <a:pPr>
              <a:spcAft>
                <a:spcPts val="150"/>
              </a:spcAft>
            </a:pPr>
            <a:r>
              <a:rPr sz="1000" b="1" dirty="0">
                <a:latin typeface="Arial"/>
              </a:rPr>
              <a:t>• Cyber Crime Victims: </a:t>
            </a:r>
            <a:r>
              <a:rPr sz="1000" dirty="0">
                <a:latin typeface="Arial"/>
              </a:rPr>
              <a:t>Faster asset freezing within 2-hr Golden Window, saving stolen funds.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1D4ED8"/>
                </a:solidFill>
                <a:latin typeface="Arial"/>
              </a:defRPr>
            </a:pPr>
            <a:r>
              <a:rPr sz="1400" dirty="0"/>
              <a:t> Key Intelligence &amp; Laundering Insights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rPr sz="1000" dirty="0"/>
              <a:t>• 85%+ of cyber heist funds route through TRC-20 USDT within 45 minutes of theft.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rPr sz="1000" dirty="0"/>
              <a:t>• 78% of </a:t>
            </a:r>
            <a:r>
              <a:rPr sz="1000" dirty="0" err="1"/>
              <a:t>unhosted</a:t>
            </a:r>
            <a:r>
              <a:rPr sz="1000" dirty="0"/>
              <a:t> deposit wallets sweep into just 12 major centralized VASP hot wallets.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rPr sz="1000" dirty="0"/>
              <a:t>• First 2 hours ("Golden Window") critical: after 6 hops, asset recovery rate drops by 82%.</a:t>
            </a:r>
          </a:p>
          <a:p>
            <a:pPr>
              <a:spcAft>
                <a:spcPts val="150"/>
              </a:spcAft>
              <a:defRPr sz="900">
                <a:latin typeface="Arial"/>
              </a:defRPr>
            </a:pPr>
            <a:r>
              <a:rPr sz="1000" dirty="0"/>
              <a:t>• 100% court admissibility achieved when forensic artifacts meet Section 63 BSA standards.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1359269"/>
            <a:ext cx="5486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50" b="1">
                <a:solidFill>
                  <a:srgbClr val="1D4ED8"/>
                </a:solidFill>
                <a:latin typeface="Arial"/>
              </a:defRPr>
            </a:pPr>
            <a:r>
              <a:rPr sz="1400" dirty="0"/>
              <a:t> Unique Outcomes from Our Solution</a:t>
            </a:r>
          </a:p>
          <a:p>
            <a:pPr>
              <a:spcAft>
                <a:spcPts val="250"/>
              </a:spcAft>
            </a:pPr>
            <a:r>
              <a:rPr sz="1050" b="1" dirty="0">
                <a:latin typeface="Arial"/>
              </a:rPr>
              <a:t>• Investigation Speedup: </a:t>
            </a:r>
            <a:r>
              <a:rPr sz="1000" dirty="0">
                <a:latin typeface="Arial"/>
              </a:rPr>
              <a:t>Reduces transaction trail tracing time from 14 days to &lt;3 minutes (70x faster).</a:t>
            </a:r>
          </a:p>
          <a:p>
            <a:pPr>
              <a:spcAft>
                <a:spcPts val="250"/>
              </a:spcAft>
            </a:pPr>
            <a:r>
              <a:rPr sz="1050" b="1" dirty="0">
                <a:latin typeface="Arial"/>
              </a:rPr>
              <a:t>• Sovereign Asset Recovery: </a:t>
            </a:r>
            <a:r>
              <a:rPr sz="1000" dirty="0">
                <a:latin typeface="Arial"/>
              </a:rPr>
              <a:t>Projected to increase asset freeze success rate by 65-80% during Golden Window.</a:t>
            </a:r>
          </a:p>
          <a:p>
            <a:pPr>
              <a:spcAft>
                <a:spcPts val="250"/>
              </a:spcAft>
            </a:pPr>
            <a:r>
              <a:rPr sz="1050" b="1" dirty="0">
                <a:latin typeface="Arial"/>
              </a:rPr>
              <a:t>• Cost Elimination: </a:t>
            </a:r>
            <a:r>
              <a:rPr sz="1000" dirty="0">
                <a:latin typeface="Arial"/>
              </a:rPr>
              <a:t>100% reduction in per-query licensing fees paid to foreign commercial vendors.</a:t>
            </a:r>
          </a:p>
          <a:p>
            <a:pPr>
              <a:spcAft>
                <a:spcPts val="250"/>
              </a:spcAft>
            </a:pPr>
            <a:r>
              <a:rPr sz="1050" b="1" dirty="0">
                <a:latin typeface="Arial"/>
              </a:rPr>
              <a:t>• Judicial Rigor: </a:t>
            </a:r>
            <a:r>
              <a:rPr sz="1000" dirty="0">
                <a:latin typeface="Arial"/>
              </a:rPr>
              <a:t>Zero evidence inadmissibility risk via automated Section 63 BSA hash-chained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59827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Arial"/>
              </a:defRPr>
            </a:pPr>
            <a:r>
              <a:rPr dirty="0"/>
              <a:t> Benefits of the Solution (Social, Economic, Environmental)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31920"/>
          <a:ext cx="11277295" cy="1972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Benefit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Supporting Example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Social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Protection of citizen life savings &amp; victim relief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Enables rapid freezing of siphoned retirement &amp; scam funds in Golden Window.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Dismantling organized cyber-crime syndicates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Exposes mule network operators and cash-out brokers across state lines.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Economic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National Forex savings &amp; recovery of illicit proceeds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Saves ₹100 Cr+ in foreign licenses; aids recovery of ₹1,500+ Cr in annual cyber losses.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Strengthened VASP AML/CFT regulatory compliance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Provides FIU-IND real-time auditability of registered reporting entities &amp; VASPs.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rPr dirty="0"/>
                        <a:t>Environmental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Zero-waste sovereign digital investigation workflow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rPr dirty="0"/>
                        <a:t>Eliminates physical paperwork and redundant inter-agency letters via automated e-notices.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object 7">
            <a:extLst>
              <a:ext uri="{FF2B5EF4-FFF2-40B4-BE49-F238E27FC236}">
                <a16:creationId xmlns:a16="http://schemas.microsoft.com/office/drawing/2014/main" id="{667C21EA-5321-1384-C384-C3953EC876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4535" y="182880"/>
            <a:ext cx="154872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180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rPr lang="en-IN" dirty="0" err="1"/>
              <a:t>Indomitus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574" y="1693744"/>
            <a:ext cx="5632026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D4ED8"/>
                </a:solidFill>
                <a:latin typeface="Arial"/>
              </a:defRPr>
            </a:pPr>
            <a:r>
              <a:rPr dirty="0"/>
              <a:t> Research Papers &amp; Legal Frameworks:</a:t>
            </a:r>
          </a:p>
          <a:p>
            <a:pPr>
              <a:spcAft>
                <a:spcPts val="150"/>
              </a:spcAft>
            </a:pPr>
            <a:r>
              <a:rPr sz="1100" b="1" dirty="0">
                <a:latin typeface="Arial"/>
              </a:rPr>
              <a:t>a. </a:t>
            </a:r>
            <a:r>
              <a:rPr sz="1050" dirty="0">
                <a:latin typeface="Arial"/>
              </a:rPr>
              <a:t>Meiklejohn, S., et al., "A Fistful of Bitcoins: Characterizing Payments Among Men with No Names," ACM IMC, 2013.</a:t>
            </a:r>
          </a:p>
          <a:p>
            <a:pPr>
              <a:spcAft>
                <a:spcPts val="150"/>
              </a:spcAft>
            </a:pPr>
            <a:r>
              <a:rPr sz="1100" b="1" dirty="0">
                <a:latin typeface="Arial"/>
              </a:rPr>
              <a:t>b. </a:t>
            </a:r>
            <a:r>
              <a:rPr sz="1050" dirty="0">
                <a:latin typeface="Arial"/>
              </a:rPr>
              <a:t>Victor, F., "Address Clustering Heuristics for Ethereum and TRC-20 Tokens," Financial Cryptography, 2020.</a:t>
            </a:r>
          </a:p>
          <a:p>
            <a:pPr>
              <a:spcAft>
                <a:spcPts val="150"/>
              </a:spcAft>
            </a:pPr>
            <a:r>
              <a:rPr sz="1100" b="1" dirty="0">
                <a:latin typeface="Arial"/>
              </a:rPr>
              <a:t>c. </a:t>
            </a:r>
            <a:r>
              <a:rPr sz="1050" dirty="0">
                <a:latin typeface="Arial"/>
              </a:rPr>
              <a:t>Biryukov, A., et al., "</a:t>
            </a:r>
            <a:r>
              <a:rPr sz="1050" dirty="0" err="1">
                <a:latin typeface="Arial"/>
              </a:rPr>
              <a:t>Deanonymisation</a:t>
            </a:r>
            <a:r>
              <a:rPr sz="1050" dirty="0">
                <a:latin typeface="Arial"/>
              </a:rPr>
              <a:t> of Clients in Bitcoin P2P Network," ACM CCS, 2014.</a:t>
            </a:r>
          </a:p>
          <a:p>
            <a:pPr>
              <a:spcAft>
                <a:spcPts val="150"/>
              </a:spcAft>
            </a:pPr>
            <a:r>
              <a:rPr sz="1100" b="1" dirty="0">
                <a:latin typeface="Arial"/>
              </a:rPr>
              <a:t>d. </a:t>
            </a:r>
            <a:r>
              <a:rPr sz="1050" dirty="0">
                <a:latin typeface="Arial"/>
              </a:rPr>
              <a:t>Ministry of Law &amp; Justice, Bharatiya </a:t>
            </a:r>
            <a:r>
              <a:rPr sz="1050" dirty="0" err="1">
                <a:latin typeface="Arial"/>
              </a:rPr>
              <a:t>Sakshya</a:t>
            </a:r>
            <a:r>
              <a:rPr sz="1050" dirty="0">
                <a:latin typeface="Arial"/>
              </a:rPr>
              <a:t> </a:t>
            </a:r>
            <a:r>
              <a:rPr sz="1050" dirty="0" err="1">
                <a:latin typeface="Arial"/>
              </a:rPr>
              <a:t>Adhiniyam</a:t>
            </a:r>
            <a:r>
              <a:rPr sz="1050" dirty="0">
                <a:latin typeface="Arial"/>
              </a:rPr>
              <a:t> (BSA) 2023, Section 63 (Electronic Records).</a:t>
            </a:r>
          </a:p>
          <a:p>
            <a:pPr>
              <a:spcAft>
                <a:spcPts val="150"/>
              </a:spcAft>
            </a:pPr>
            <a:r>
              <a:rPr sz="1100" b="1" dirty="0">
                <a:latin typeface="Arial"/>
              </a:rPr>
              <a:t>e. </a:t>
            </a:r>
            <a:r>
              <a:rPr sz="1050" dirty="0">
                <a:latin typeface="Arial"/>
              </a:rPr>
              <a:t>Ministry of Home Affairs, Bharatiya Nagarik Suraksha Sanhita (BNSS) 2023, Sections 94 &amp; 106.</a:t>
            </a:r>
            <a:endParaRPr lang="en-IN" sz="1050" dirty="0">
              <a:latin typeface="Arial"/>
            </a:endParaRP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1D4ED8"/>
                </a:solidFill>
                <a:latin typeface="Arial"/>
              </a:defRPr>
            </a:pPr>
            <a:r>
              <a:rPr lang="en-IN" sz="1600" dirty="0"/>
              <a:t> Existing VASP &amp; On-Chain Intelligence Platforms:</a:t>
            </a:r>
          </a:p>
          <a:p>
            <a:pPr>
              <a:spcAft>
                <a:spcPts val="100"/>
              </a:spcAft>
            </a:pPr>
            <a:r>
              <a:rPr sz="1100" b="1" dirty="0">
                <a:latin typeface="Arial"/>
              </a:rPr>
              <a:t>a. Chainalysis Reactor: </a:t>
            </a:r>
            <a:r>
              <a:rPr sz="1100" u="sng" dirty="0">
                <a:solidFill>
                  <a:srgbClr val="1D4ED8"/>
                </a:solidFill>
                <a:latin typeface="Arial"/>
              </a:rPr>
              <a:t>https://www.chainalysis.com</a:t>
            </a:r>
          </a:p>
          <a:p>
            <a:pPr>
              <a:spcAft>
                <a:spcPts val="100"/>
              </a:spcAft>
            </a:pPr>
            <a:r>
              <a:rPr sz="1100" b="1" dirty="0">
                <a:latin typeface="Arial"/>
              </a:rPr>
              <a:t>b. TRM Labs Forensics: </a:t>
            </a:r>
            <a:r>
              <a:rPr sz="1100" u="sng" dirty="0">
                <a:solidFill>
                  <a:srgbClr val="1D4ED8"/>
                </a:solidFill>
                <a:latin typeface="Arial"/>
              </a:rPr>
              <a:t>https://www.trmlabs.com</a:t>
            </a:r>
          </a:p>
          <a:p>
            <a:pPr>
              <a:spcAft>
                <a:spcPts val="100"/>
              </a:spcAft>
            </a:pPr>
            <a:r>
              <a:rPr sz="1100" b="1" dirty="0">
                <a:latin typeface="Arial"/>
              </a:rPr>
              <a:t>c. Merkle Science Tracker: </a:t>
            </a:r>
            <a:r>
              <a:rPr sz="1100" u="sng" dirty="0">
                <a:solidFill>
                  <a:srgbClr val="1D4ED8"/>
                </a:solidFill>
                <a:latin typeface="Arial"/>
              </a:rPr>
              <a:t>https://www.merklescience.com</a:t>
            </a:r>
          </a:p>
        </p:txBody>
      </p:sp>
      <p:pic>
        <p:nvPicPr>
          <p:cNvPr id="9" name="Picture 8" descr="chakra_competito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412" y="1051560"/>
            <a:ext cx="6416536" cy="41105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4715086"/>
            <a:ext cx="17011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Arial"/>
              </a:defRPr>
            </a:pPr>
            <a:r>
              <a:t>Research </a:t>
            </a:r>
            <a:r>
              <a:rPr dirty="0"/>
              <a:t>Flow:</a:t>
            </a:r>
          </a:p>
        </p:txBody>
      </p:sp>
      <p:pic>
        <p:nvPicPr>
          <p:cNvPr id="11" name="Picture 10" descr="chakra_research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52" y="5018205"/>
            <a:ext cx="11277296" cy="1330088"/>
          </a:xfrm>
          <a:prstGeom prst="rect">
            <a:avLst/>
          </a:prstGeom>
        </p:spPr>
      </p:pic>
      <p:pic>
        <p:nvPicPr>
          <p:cNvPr id="15" name="object 7">
            <a:extLst>
              <a:ext uri="{FF2B5EF4-FFF2-40B4-BE49-F238E27FC236}">
                <a16:creationId xmlns:a16="http://schemas.microsoft.com/office/drawing/2014/main" id="{9A6C6489-8DC0-9A6D-FF3E-1A72C12E70F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4535" y="182880"/>
            <a:ext cx="1548722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1504</Words>
  <Application>Microsoft Office PowerPoint</Application>
  <PresentationFormat>Widescreen</PresentationFormat>
  <Paragraphs>135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Sharma</cp:lastModifiedBy>
  <cp:revision>1</cp:revision>
  <dcterms:created xsi:type="dcterms:W3CDTF">2013-01-27T09:14:16Z</dcterms:created>
  <dcterms:modified xsi:type="dcterms:W3CDTF">2026-09-08T16:13:03Z</dcterms:modified>
  <cp:category/>
</cp:coreProperties>
</file>