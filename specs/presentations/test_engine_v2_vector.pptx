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D4ED8"/>
                </a:solidFill>
                <a:latin typeface="Georgia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Georgia"/>
              </a:defRPr>
            </a:pPr>
            <a:r>
              <a:t>Idea Title: Sovereign On-Chain Hawala &amp; Financial Crime De-Anonymization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D4ED8"/>
                </a:solidFill>
                <a:latin typeface="Arial"/>
              </a:rPr>
              <a:t>1736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 Problem Statement Title </a:t>
            </a:r>
            <a:r>
              <a:rPr sz="1550" b="0">
                <a:solidFill>
                  <a:srgbClr val="0F172A"/>
                </a:solidFill>
                <a:latin typeface="Arial"/>
              </a:rPr>
              <a:t>De-Anonymizing Cross-Border Hawala &amp; Multi-Hop Crypto Laundering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Theme </a:t>
            </a:r>
            <a:r>
              <a:rPr sz="1700" b="0">
                <a:solidFill>
                  <a:srgbClr val="0F172A"/>
                </a:solidFill>
                <a:latin typeface="Arial"/>
              </a:rPr>
              <a:t>Smart Automation / Law Enforcement &amp; National Cyber Security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PS Category </a:t>
            </a:r>
            <a:r>
              <a:rPr sz="1700" b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ID </a:t>
            </a:r>
            <a:r>
              <a:rPr sz="1700" b="0">
                <a:solidFill>
                  <a:srgbClr val="0F172A"/>
                </a:solidFill>
                <a:latin typeface="Arial"/>
              </a:rPr>
              <a:t>SIH2026-SOV-042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Name :- </a:t>
            </a:r>
            <a:r>
              <a:rPr sz="1700" b="1">
                <a:solidFill>
                  <a:srgbClr val="1D4ED8"/>
                </a:solidFill>
                <a:latin typeface="Arial"/>
              </a:rPr>
              <a:t>PRAVAH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3192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TECHNICAL ARCHITECTURE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D4ED8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Real-time Ingestion:- </a:t>
            </a:r>
            <a:r>
              <a:rPr sz="880">
                <a:solidFill>
                  <a:srgbClr val="0F172A"/>
                </a:solidFill>
                <a:latin typeface="Arial"/>
              </a:rPr>
              <a:t>Decodes mempool and Tron TRC-20 energy usage patterns in &lt;30ms.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Multi-Hop Heuristics:- </a:t>
            </a:r>
            <a:r>
              <a:rPr sz="880">
                <a:solidFill>
                  <a:srgbClr val="0F172A"/>
                </a:solidFill>
                <a:latin typeface="Arial"/>
              </a:rPr>
              <a:t>Traverses 6+ hops to uncover deposit-to-sweep aggregation trees.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Graph Database Cluster:- </a:t>
            </a:r>
            <a:r>
              <a:rPr sz="880">
                <a:solidFill>
                  <a:srgbClr val="0F172A"/>
                </a:solidFill>
                <a:latin typeface="Arial"/>
              </a:rPr>
              <a:t>Neo4j distributed engine handling 50k+ nodes with sub-180s graph traversal.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Court Admissible Ledger:- </a:t>
            </a:r>
            <a:r>
              <a:rPr sz="880">
                <a:solidFill>
                  <a:srgbClr val="0F172A"/>
                </a:solidFill>
                <a:latin typeface="Arial"/>
              </a:rPr>
              <a:t>Automated cryptographic hash-chaining compliant with Section 63 BSA 2023.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Sovereign Interoperability:- </a:t>
            </a:r>
            <a:r>
              <a:rPr sz="880">
                <a:solidFill>
                  <a:srgbClr val="0F172A"/>
                </a:solidFill>
                <a:latin typeface="Arial"/>
              </a:rPr>
              <a:t>Zero third-party SaaS dependencies, 100% on-premise air-gapped readiness.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Asymmetric AI Filter:- </a:t>
            </a:r>
            <a:r>
              <a:rPr sz="880">
                <a:solidFill>
                  <a:srgbClr val="0F172A"/>
                </a:solidFill>
                <a:latin typeface="Arial"/>
              </a:rPr>
              <a:t>Capped heuristic confidence prevents false-positive accusations in court.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1D4ED8"/>
                </a:solidFill>
                <a:latin typeface="Arial"/>
              </a:rPr>
              <a:t>• </a:t>
            </a:r>
            <a:r>
              <a:rPr sz="930" b="1">
                <a:solidFill>
                  <a:srgbClr val="0F172A"/>
                </a:solidFill>
                <a:latin typeface="Arial"/>
              </a:rPr>
              <a:t>Automated Production Orders:- </a:t>
            </a:r>
            <a:r>
              <a:rPr sz="880">
                <a:solidFill>
                  <a:srgbClr val="0F172A"/>
                </a:solidFill>
                <a:latin typeface="Arial"/>
              </a:rPr>
              <a:t>Generates Section 94 BNSS legal notices for Indian crypto exchanges.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852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Arial"/>
              </a:defRPr>
            </a:pPr>
            <a:r>
              <a:t>• PRAVAH MICROSERVICE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81912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581912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1: EDGE &amp; INGESTION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856232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FastAPI Ingestion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Kafka Event Streaming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Tron/ETH Poller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856232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P2P Mempool Sniffer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Zero-delay TX Catch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Gas Anomaly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79776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779776"/>
            <a:ext cx="5852160" cy="219456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2: DEEP FORENSIC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3054096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Neo4j Graph Cluster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50,000+ Node Subgraph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&lt;180s 6-Hop Traversal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Clustering Heuristics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Deposit-Sweep Engine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Hawala Syndicate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77640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40"/>
            <a:ext cx="5852160" cy="21945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3: SOVEREIGN STORAGE &amp; CRYPTOGRAPHY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4251960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Section 63 BSA Vault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SHA-256 Hash Chaining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Cryptographic Manifest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251960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STIX 2.1 Threat Intel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Automated IoC Dispatch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FIU-IND STR/SAR Format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175504"/>
            <a:ext cx="5852160" cy="10881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5175504"/>
            <a:ext cx="5852160" cy="219456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  TIER 4: LAW ENFORCEMENT OPERATIONS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5449824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Investigator Canvas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Cytoscape Visual Map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1-Click PDF Dossier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5449824"/>
            <a:ext cx="2816352" cy="758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0F172A"/>
                </a:solidFill>
                <a:latin typeface="Arial"/>
              </a:defRPr>
            </a:pPr>
            <a:r>
              <a:t>Exchange Bridge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Sec 94 BNSS Notices</a:t>
            </a:r>
          </a:p>
          <a:p>
            <a:pPr>
              <a:spcAft>
                <a:spcPts val="10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NCRP Suspect Feed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7384" y="2670048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787384" y="3867912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787384" y="5065776"/>
            <a:ext cx="164592" cy="109728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METHODOLOGY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D4ED8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1: Ledger Ingestion:- </a:t>
            </a:r>
            <a:r>
              <a:rPr sz="850">
                <a:solidFill>
                  <a:srgbClr val="0F172A"/>
                </a:solidFill>
                <a:latin typeface="Arial"/>
              </a:rPr>
              <a:t>Stream transaction blocks from RPC endpoints and high-volume TRC-20 nodes.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2: Subgraph Expansion:- </a:t>
            </a:r>
            <a:r>
              <a:rPr sz="850">
                <a:solidFill>
                  <a:srgbClr val="0F172A"/>
                </a:solidFill>
                <a:latin typeface="Arial"/>
              </a:rPr>
              <a:t>Run bi-directional graph walk across Neo4j to flag intermediary mule wallets.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3: Hawala Ring Extraction:- </a:t>
            </a:r>
            <a:r>
              <a:rPr sz="850">
                <a:solidFill>
                  <a:srgbClr val="0F172A"/>
                </a:solidFill>
                <a:latin typeface="Arial"/>
              </a:rPr>
              <a:t>Apply deposit-to-sweep aggregation heuristics to identify off-ramp points.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1D4ED8"/>
                </a:solidFill>
                <a:latin typeface="Arial"/>
              </a:rPr>
              <a:t>• </a:t>
            </a:r>
            <a:r>
              <a:rPr sz="900" b="1">
                <a:solidFill>
                  <a:srgbClr val="0F172A"/>
                </a:solidFill>
                <a:latin typeface="Arial"/>
              </a:rPr>
              <a:t>Step 4: Court Evidentiary Seal:- </a:t>
            </a:r>
            <a:r>
              <a:rPr sz="850">
                <a:solidFill>
                  <a:srgbClr val="0F172A"/>
                </a:solidFill>
                <a:latin typeface="Arial"/>
              </a:rPr>
              <a:t>Generate cryptographic certificate signed under Section 63 BSA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507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Process Flow :-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34256"/>
            <a:ext cx="1179576" cy="493775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1. Raw Ingestion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Kafka Streams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64208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01368" y="4334256"/>
            <a:ext cx="1179576" cy="49377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2. Graph Build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Neo4j Subgraph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08376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45536" y="4334256"/>
            <a:ext cx="1179576" cy="493775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3. Heuristic ML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Hawala Attribution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2544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9704" y="4334256"/>
            <a:ext cx="1179576" cy="493775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4. BSA Seal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Court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Resolves complex money laundering chains in under 180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Process Flow :-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Live continuous streaming enables real-time freezing before mule cash-out occurs.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TECHNOLOGIES TO BE USED: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36192"/>
            <a:ext cx="1889760" cy="292608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Core Backend &amp;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FastAPI / Python 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Neo4j Graph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Apache Kafka Streams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8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48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Intelligence &amp;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PyTorch GNN Models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79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STIX 2.1 Threat Intel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79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Tron TRC-20 Parser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6000" y="1536192"/>
            <a:ext cx="1889760" cy="344728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6000" y="1536192"/>
            <a:ext cx="1889760" cy="29260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Frontend &amp; Law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9152" y="1901952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Next.js 15 &amp; Cytoscape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9152" y="2249424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Section 63 BSA Hash Vault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79152" y="2596896"/>
            <a:ext cx="1743456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TailwindCSS &amp; Lucide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074920"/>
            <a:ext cx="5852160" cy="1188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https://github.com/pravah-fiu/hawala-attribution-engine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Demo Live Prototype 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https://pravah.fiu-cyberdefense.gov.in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Technical: Scalable microservices resolving 50k+ nodes in &lt;180s via Neo4j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Economic: 100% sovereign open-source stack saving ₹100Cr+ in annual vendor licenses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Operational: Simple visual canvas and automated 1-click Section 63 BSA legal export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Social: Prevents illicit capital flight and protects citizen financial integrity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Potential Challenges:-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Multi-jurisdictional non-cooperative offshore shell entities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Layered crypto mixers and P2P Hawala cash-out rings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Investigating officers lacking deep blockchain forensic expertise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Mitigation Strategies:-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Deposit-to-sweep aggregation heuristics linking mule wallets to VASPs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Automated Section 94 BNSS production notices for domestic exchanges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1-Click plain-English court reports with verified hash chains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Viability:-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Validated against historical cross-border money laundering typologies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100% compliant with Make in India &amp; Atmanirbhar Bharat defense directives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Business Potential:-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Strategic deployment across FIU-IND, Enforcement Directorate, and CBI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Direct integration into National Cybercrime Reporting Portal (NCRP)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Use Cases:-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Trade-based money laundering &amp; Hawala syndicate tracking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Crypto extortion and centralized exchange cash-out attribution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Court evidentiary submissions with Section 63 BSA compliance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Challenges:-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Decentralized bridges breaking transaction lineage across sovereign chains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Unregulated offshore VASPs delaying international freeze requests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Solutions:-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Burner contract and destination memo parsing linking cross-chain flows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Automated FIU-IND STR/SAR escalation dossiers for non-compliant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EF3C7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SUPPORTING FACTS FOR FEASIBILITY AND VIABILITY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Over ₹30,000 Crore laundered annually through illicit trade &amp; crypto mule corridors in India.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PRAVAH resolves complex cross-border 6-hop chains in &lt;180s vs 21+ days for manual requests.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Strict 0.65 asymmetric AI cap prevents false-positive accusations in court.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100% sovereign deployment eliminates ₹100+ Crore annual forex outflow to foreign vendors.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Potential impact on the target audience:-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IOs &amp; Analysts: Resolves complex transaction trails in minutes with legal kits.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FIU-IND &amp; ED: Centralized command and control with unified sovereign intelligence.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Registered VASPs: Machine-readable freeze notices and automated STR compliance.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National Economy: Protects foreign exchange reserves and curbs illegal tax evasion.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Key Intelligence &amp; Laundering Insights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82% of cross-border illicit crypto routes through just 15 offshore cash-out desks.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First 2 hours ('Golden Window') critical: fund recovery rate drops by 80% after 5 hops.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100% court admissibility achieved when forensic artifacts meet Section 63 BSA standards.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486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Unique Outcomes from Our Solution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Investigation Speedup: Traces complex trails in &lt;3 minutes (70x faster than manual).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Asset Recovery Rate: Projected to increase asset freeze success by 65-80% in Golden Window.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Sovereign Autonomy: 100% reduction in licensing fees paid to foreign SaaS vendors.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Judicial Rigor: Zero inadmissibility risk via automated SHA-256 hash-chained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780"/>
                <a:gridCol w="4509820"/>
                <a:gridCol w="4831950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Benefit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Supporting Example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Social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Protection of national economic integrity &amp; citizen wealth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Stops terror financing, narcotic syndicates, and large-scale bank fraud heists.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Dismantling organized cross-border mule networks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Exposes hawala kingpins and unhosted wallet syndicates across state lines.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Economic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Preservation of Forex reserves &amp; seizure of criminal assets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Saves ₹100 Cr+ in foreign software licenses; aids recovery of ₹2,000+ Cr in tax fraud.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Strengthened AML/CFT regulatory compliance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Empowers FIU-IND with real-time auditability of registered reporting entities.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Environmental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paperless sovereign digital intelligence pipeline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Replaces physical courier memos and manual case files with automated STIX 2.1 e-notices.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Research Papers &amp; Legal Frameworks: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Meiklejohn, S., et al., 'A Fistful of Bitcoins: Characterizing Payments,' ACM IMC, 2013.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Biryukov, A., et al., 'Deanonymisation of Clients in Bitcoin P2P Network,' ACM CCS, 2014.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c. Ministry of Law &amp; Justice, Bharatiya Sakshya Adhiniyam (BSA) 2023, Section 63.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d. Ministry of Home Affairs, Bharatiya Nagarik Suraksha Sanhita (BNSS) 2023, Section 94.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• Existing On-Chain Intelligence Platforms: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Palantir Gotham / Foundry: https://www.palantir.com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Chainalysis Reactor: https://www.chainalysis.com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c. TRM Labs Forensics: https://www.trmlabs.com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303520" cy="1234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Arial"/>
              </a:rPr>
              <a:t/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https://github.com/pravah-fiu/hawala-attribution-engine</a:t>
            </a:r>
          </a:p>
          <a:p>
            <a:pPr algn="ctr"/>
            <a:r>
              <a:rPr sz="1100" b="1">
                <a:solidFill>
                  <a:srgbClr val="0F172A"/>
                </a:solidFill>
                <a:latin typeface="Arial"/>
              </a:rPr>
              <a:t/>
            </a:r>
            <a:r>
              <a:rPr sz="1100" u="sng">
                <a:solidFill>
                  <a:srgbClr val="1D4ED8"/>
                </a:solidFill>
                <a:latin typeface="Arial"/>
              </a:rPr>
              <a:t>https://pravah.fiu-cyberdefense.gov.in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234440"/>
          <a:ext cx="58521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45820"/>
                <a:gridCol w="845820"/>
                <a:gridCol w="845820"/>
                <a:gridCol w="845820"/>
              </a:tblGrid>
              <a:tr h="46862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Forensic Capability / Feature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PRAVAH (I4C)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Chainalysis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TRM Labs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Merkle Science</a:t>
                      </a:r>
                    </a:p>
                  </a:txBody>
                  <a:tcPr marL="36576" marR="36576" marT="36576" marB="36576">
                    <a:solidFill>
                      <a:srgbClr val="F1F5F9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Tron TRC-20 Energy Model Decoding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Deposit-to-Sweep Clustering Heuristics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Section 63 BSA 2023 Evidentiary Hash Chain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Sub-180s Bounded Graph Traversal (&lt;3 min)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Sovereign Air-Gapped On-Premise (No Data Leak)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Automated BNSS Sec 94/106 Notice Engine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 Zero Forex License Cost (100% Sovereign Open)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10912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Research Flow: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0096"/>
            <a:ext cx="1265301" cy="914399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1. Threat Landscape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Problem 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49933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7093" y="5340096"/>
            <a:ext cx="1265301" cy="9143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2. Ledger Audit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On-Chain Scans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79826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6986" y="5340096"/>
            <a:ext cx="1265301" cy="914399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3. Gap Analysis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Tron &amp; BSA 2023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09719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46879" y="5340096"/>
            <a:ext cx="1265301" cy="914399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4. Architecture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UTDM Topology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9612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6772" y="5340096"/>
            <a:ext cx="1265301" cy="91439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5. Red/Blue Teams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Adversarial Ops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69505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6665" y="5340096"/>
            <a:ext cx="1265301" cy="9143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6. System Core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Neo4j &amp; Kafka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99398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6558" y="5340096"/>
            <a:ext cx="1265301" cy="91439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7. Benchmarking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Evidentiary Lab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29290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66451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8. Deployment</a:t>
            </a:r>
          </a:p>
          <a:p>
            <a:pPr algn="ctr">
              <a:defRPr sz="700">
                <a:solidFill>
                  <a:srgbClr val="FFFFFF"/>
                </a:solidFill>
                <a:latin typeface="Arial"/>
              </a:defRPr>
            </a:pPr>
            <a:r>
              <a:t>Sovereign I4C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