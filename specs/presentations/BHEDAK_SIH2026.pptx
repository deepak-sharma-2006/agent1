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873A7E-B050-4996-96AA-4F62E9B45DC4}" v="12" dt="2026-09-08T16:31:26.2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epak Sharma" userId="5df7f36480743ae4" providerId="LiveId" clId="{0E9CE9C0-E47A-46B3-AFEE-38A77AABE275}"/>
    <pc:docChg chg="custSel modSld">
      <pc:chgData name="Deepak Sharma" userId="5df7f36480743ae4" providerId="LiveId" clId="{0E9CE9C0-E47A-46B3-AFEE-38A77AABE275}" dt="2026-09-08T16:31:36.141" v="70" actId="478"/>
      <pc:docMkLst>
        <pc:docMk/>
      </pc:docMkLst>
      <pc:sldChg chg="addSp delSp modSp mod">
        <pc:chgData name="Deepak Sharma" userId="5df7f36480743ae4" providerId="LiveId" clId="{0E9CE9C0-E47A-46B3-AFEE-38A77AABE275}" dt="2026-09-08T16:30:01.224" v="43" actId="22"/>
        <pc:sldMkLst>
          <pc:docMk/>
          <pc:sldMk cId="0" sldId="256"/>
        </pc:sldMkLst>
        <pc:spChg chg="mod">
          <ac:chgData name="Deepak Sharma" userId="5df7f36480743ae4" providerId="LiveId" clId="{0E9CE9C0-E47A-46B3-AFEE-38A77AABE275}" dt="2026-09-08T16:29:37.035" v="39" actId="20577"/>
          <ac:spMkLst>
            <pc:docMk/>
            <pc:sldMk cId="0" sldId="256"/>
            <ac:spMk id="5" creationId="{00000000-0000-0000-0000-000000000000}"/>
          </ac:spMkLst>
        </pc:spChg>
        <pc:picChg chg="del">
          <ac:chgData name="Deepak Sharma" userId="5df7f36480743ae4" providerId="LiveId" clId="{0E9CE9C0-E47A-46B3-AFEE-38A77AABE275}" dt="2026-09-08T16:30:00.604" v="42" actId="478"/>
          <ac:picMkLst>
            <pc:docMk/>
            <pc:sldMk cId="0" sldId="256"/>
            <ac:picMk id="3" creationId="{00000000-0000-0000-0000-000000000000}"/>
          </ac:picMkLst>
        </pc:picChg>
        <pc:picChg chg="add">
          <ac:chgData name="Deepak Sharma" userId="5df7f36480743ae4" providerId="LiveId" clId="{0E9CE9C0-E47A-46B3-AFEE-38A77AABE275}" dt="2026-09-08T16:30:01.224" v="43" actId="22"/>
          <ac:picMkLst>
            <pc:docMk/>
            <pc:sldMk cId="0" sldId="256"/>
            <ac:picMk id="8" creationId="{64BDDFE4-0F6A-B24D-E74A-B1B5EF86CF49}"/>
          </ac:picMkLst>
        </pc:picChg>
      </pc:sldChg>
      <pc:sldChg chg="addSp delSp modSp mod">
        <pc:chgData name="Deepak Sharma" userId="5df7f36480743ae4" providerId="LiveId" clId="{0E9CE9C0-E47A-46B3-AFEE-38A77AABE275}" dt="2026-09-08T16:31:30.196" v="69" actId="20577"/>
        <pc:sldMkLst>
          <pc:docMk/>
          <pc:sldMk cId="0" sldId="257"/>
        </pc:sldMkLst>
        <pc:spChg chg="mod">
          <ac:chgData name="Deepak Sharma" userId="5df7f36480743ae4" providerId="LiveId" clId="{0E9CE9C0-E47A-46B3-AFEE-38A77AABE275}" dt="2026-09-08T16:31:01.444" v="61"/>
          <ac:spMkLst>
            <pc:docMk/>
            <pc:sldMk cId="0" sldId="257"/>
            <ac:spMk id="2" creationId="{00000000-0000-0000-0000-000000000000}"/>
          </ac:spMkLst>
        </pc:spChg>
        <pc:spChg chg="mod">
          <ac:chgData name="Deepak Sharma" userId="5df7f36480743ae4" providerId="LiveId" clId="{0E9CE9C0-E47A-46B3-AFEE-38A77AABE275}" dt="2026-09-08T16:31:30.196" v="69" actId="20577"/>
          <ac:spMkLst>
            <pc:docMk/>
            <pc:sldMk cId="0" sldId="257"/>
            <ac:spMk id="3" creationId="{00000000-0000-0000-0000-000000000000}"/>
          </ac:spMkLst>
        </pc:spChg>
        <pc:picChg chg="del">
          <ac:chgData name="Deepak Sharma" userId="5df7f36480743ae4" providerId="LiveId" clId="{0E9CE9C0-E47A-46B3-AFEE-38A77AABE275}" dt="2026-09-08T16:29:55.252" v="41" actId="478"/>
          <ac:picMkLst>
            <pc:docMk/>
            <pc:sldMk cId="0" sldId="257"/>
            <ac:picMk id="4" creationId="{00000000-0000-0000-0000-000000000000}"/>
          </ac:picMkLst>
        </pc:picChg>
        <pc:picChg chg="add">
          <ac:chgData name="Deepak Sharma" userId="5df7f36480743ae4" providerId="LiveId" clId="{0E9CE9C0-E47A-46B3-AFEE-38A77AABE275}" dt="2026-09-08T16:29:53.274" v="40" actId="22"/>
          <ac:picMkLst>
            <pc:docMk/>
            <pc:sldMk cId="0" sldId="257"/>
            <ac:picMk id="10" creationId="{6D323DE8-5387-28F2-DAB7-2BA1D33E07A9}"/>
          </ac:picMkLst>
        </pc:picChg>
      </pc:sldChg>
      <pc:sldChg chg="addSp delSp modSp mod">
        <pc:chgData name="Deepak Sharma" userId="5df7f36480743ae4" providerId="LiveId" clId="{0E9CE9C0-E47A-46B3-AFEE-38A77AABE275}" dt="2026-09-08T16:31:36.141" v="70" actId="478"/>
        <pc:sldMkLst>
          <pc:docMk/>
          <pc:sldMk cId="0" sldId="258"/>
        </pc:sldMkLst>
        <pc:spChg chg="mod">
          <ac:chgData name="Deepak Sharma" userId="5df7f36480743ae4" providerId="LiveId" clId="{0E9CE9C0-E47A-46B3-AFEE-38A77AABE275}" dt="2026-09-08T16:30:57.433" v="60"/>
          <ac:spMkLst>
            <pc:docMk/>
            <pc:sldMk cId="0" sldId="258"/>
            <ac:spMk id="2" creationId="{00000000-0000-0000-0000-000000000000}"/>
          </ac:spMkLst>
        </pc:spChg>
        <pc:spChg chg="del">
          <ac:chgData name="Deepak Sharma" userId="5df7f36480743ae4" providerId="LiveId" clId="{0E9CE9C0-E47A-46B3-AFEE-38A77AABE275}" dt="2026-09-08T16:31:36.141" v="70" actId="478"/>
          <ac:spMkLst>
            <pc:docMk/>
            <pc:sldMk cId="0" sldId="258"/>
            <ac:spMk id="11" creationId="{00000000-0000-0000-0000-000000000000}"/>
          </ac:spMkLst>
        </pc:spChg>
        <pc:picChg chg="del">
          <ac:chgData name="Deepak Sharma" userId="5df7f36480743ae4" providerId="LiveId" clId="{0E9CE9C0-E47A-46B3-AFEE-38A77AABE275}" dt="2026-09-08T16:30:04.700" v="44" actId="478"/>
          <ac:picMkLst>
            <pc:docMk/>
            <pc:sldMk cId="0" sldId="258"/>
            <ac:picMk id="4" creationId="{00000000-0000-0000-0000-000000000000}"/>
          </ac:picMkLst>
        </pc:picChg>
        <pc:picChg chg="add">
          <ac:chgData name="Deepak Sharma" userId="5df7f36480743ae4" providerId="LiveId" clId="{0E9CE9C0-E47A-46B3-AFEE-38A77AABE275}" dt="2026-09-08T16:30:05.060" v="45" actId="22"/>
          <ac:picMkLst>
            <pc:docMk/>
            <pc:sldMk cId="0" sldId="258"/>
            <ac:picMk id="13" creationId="{C19EC205-E494-E331-AA2B-2F59AD294565}"/>
          </ac:picMkLst>
        </pc:picChg>
      </pc:sldChg>
      <pc:sldChg chg="addSp delSp modSp mod">
        <pc:chgData name="Deepak Sharma" userId="5df7f36480743ae4" providerId="LiveId" clId="{0E9CE9C0-E47A-46B3-AFEE-38A77AABE275}" dt="2026-09-08T16:30:53.489" v="59"/>
        <pc:sldMkLst>
          <pc:docMk/>
          <pc:sldMk cId="0" sldId="259"/>
        </pc:sldMkLst>
        <pc:spChg chg="mod">
          <ac:chgData name="Deepak Sharma" userId="5df7f36480743ae4" providerId="LiveId" clId="{0E9CE9C0-E47A-46B3-AFEE-38A77AABE275}" dt="2026-09-08T16:30:53.489" v="59"/>
          <ac:spMkLst>
            <pc:docMk/>
            <pc:sldMk cId="0" sldId="259"/>
            <ac:spMk id="2" creationId="{00000000-0000-0000-0000-000000000000}"/>
          </ac:spMkLst>
        </pc:spChg>
        <pc:picChg chg="del">
          <ac:chgData name="Deepak Sharma" userId="5df7f36480743ae4" providerId="LiveId" clId="{0E9CE9C0-E47A-46B3-AFEE-38A77AABE275}" dt="2026-09-08T16:30:08.480" v="46" actId="478"/>
          <ac:picMkLst>
            <pc:docMk/>
            <pc:sldMk cId="0" sldId="259"/>
            <ac:picMk id="4" creationId="{00000000-0000-0000-0000-000000000000}"/>
          </ac:picMkLst>
        </pc:picChg>
        <pc:picChg chg="add">
          <ac:chgData name="Deepak Sharma" userId="5df7f36480743ae4" providerId="LiveId" clId="{0E9CE9C0-E47A-46B3-AFEE-38A77AABE275}" dt="2026-09-08T16:30:08.832" v="47" actId="22"/>
          <ac:picMkLst>
            <pc:docMk/>
            <pc:sldMk cId="0" sldId="259"/>
            <ac:picMk id="11" creationId="{31345D4C-F74D-0796-8928-B8AB8DAA6C6E}"/>
          </ac:picMkLst>
        </pc:picChg>
      </pc:sldChg>
      <pc:sldChg chg="addSp delSp modSp mod">
        <pc:chgData name="Deepak Sharma" userId="5df7f36480743ae4" providerId="LiveId" clId="{0E9CE9C0-E47A-46B3-AFEE-38A77AABE275}" dt="2026-09-08T16:30:48.673" v="58"/>
        <pc:sldMkLst>
          <pc:docMk/>
          <pc:sldMk cId="0" sldId="260"/>
        </pc:sldMkLst>
        <pc:spChg chg="mod">
          <ac:chgData name="Deepak Sharma" userId="5df7f36480743ae4" providerId="LiveId" clId="{0E9CE9C0-E47A-46B3-AFEE-38A77AABE275}" dt="2026-09-08T16:30:48.673" v="58"/>
          <ac:spMkLst>
            <pc:docMk/>
            <pc:sldMk cId="0" sldId="260"/>
            <ac:spMk id="2" creationId="{00000000-0000-0000-0000-000000000000}"/>
          </ac:spMkLst>
        </pc:spChg>
        <pc:picChg chg="del">
          <ac:chgData name="Deepak Sharma" userId="5df7f36480743ae4" providerId="LiveId" clId="{0E9CE9C0-E47A-46B3-AFEE-38A77AABE275}" dt="2026-09-08T16:30:12.973" v="48" actId="478"/>
          <ac:picMkLst>
            <pc:docMk/>
            <pc:sldMk cId="0" sldId="260"/>
            <ac:picMk id="4" creationId="{00000000-0000-0000-0000-000000000000}"/>
          </ac:picMkLst>
        </pc:picChg>
        <pc:picChg chg="add">
          <ac:chgData name="Deepak Sharma" userId="5df7f36480743ae4" providerId="LiveId" clId="{0E9CE9C0-E47A-46B3-AFEE-38A77AABE275}" dt="2026-09-08T16:30:13.348" v="49" actId="22"/>
          <ac:picMkLst>
            <pc:docMk/>
            <pc:sldMk cId="0" sldId="260"/>
            <ac:picMk id="12" creationId="{F8C18725-EF1C-2769-6F4B-DCF8097595CF}"/>
          </ac:picMkLst>
        </pc:picChg>
      </pc:sldChg>
      <pc:sldChg chg="addSp delSp modSp mod">
        <pc:chgData name="Deepak Sharma" userId="5df7f36480743ae4" providerId="LiveId" clId="{0E9CE9C0-E47A-46B3-AFEE-38A77AABE275}" dt="2026-09-08T16:30:42.948" v="57" actId="403"/>
        <pc:sldMkLst>
          <pc:docMk/>
          <pc:sldMk cId="0" sldId="261"/>
        </pc:sldMkLst>
        <pc:spChg chg="mod">
          <ac:chgData name="Deepak Sharma" userId="5df7f36480743ae4" providerId="LiveId" clId="{0E9CE9C0-E47A-46B3-AFEE-38A77AABE275}" dt="2026-09-08T16:30:33.159" v="54"/>
          <ac:spMkLst>
            <pc:docMk/>
            <pc:sldMk cId="0" sldId="261"/>
            <ac:spMk id="2" creationId="{00000000-0000-0000-0000-000000000000}"/>
          </ac:spMkLst>
        </pc:spChg>
        <pc:spChg chg="mod">
          <ac:chgData name="Deepak Sharma" userId="5df7f36480743ae4" providerId="LiveId" clId="{0E9CE9C0-E47A-46B3-AFEE-38A77AABE275}" dt="2026-09-08T16:30:42.948" v="57" actId="403"/>
          <ac:spMkLst>
            <pc:docMk/>
            <pc:sldMk cId="0" sldId="261"/>
            <ac:spMk id="7" creationId="{00000000-0000-0000-0000-000000000000}"/>
          </ac:spMkLst>
        </pc:spChg>
        <pc:spChg chg="del">
          <ac:chgData name="Deepak Sharma" userId="5df7f36480743ae4" providerId="LiveId" clId="{0E9CE9C0-E47A-46B3-AFEE-38A77AABE275}" dt="2026-09-08T16:30:36.991" v="55" actId="478"/>
          <ac:spMkLst>
            <pc:docMk/>
            <pc:sldMk cId="0" sldId="261"/>
            <ac:spMk id="8" creationId="{00000000-0000-0000-0000-000000000000}"/>
          </ac:spMkLst>
        </pc:spChg>
        <pc:picChg chg="del">
          <ac:chgData name="Deepak Sharma" userId="5df7f36480743ae4" providerId="LiveId" clId="{0E9CE9C0-E47A-46B3-AFEE-38A77AABE275}" dt="2026-09-08T16:30:17.180" v="50" actId="478"/>
          <ac:picMkLst>
            <pc:docMk/>
            <pc:sldMk cId="0" sldId="261"/>
            <ac:picMk id="4" creationId="{00000000-0000-0000-0000-000000000000}"/>
          </ac:picMkLst>
        </pc:picChg>
        <pc:picChg chg="add">
          <ac:chgData name="Deepak Sharma" userId="5df7f36480743ae4" providerId="LiveId" clId="{0E9CE9C0-E47A-46B3-AFEE-38A77AABE275}" dt="2026-09-08T16:30:17.643" v="51" actId="22"/>
          <ac:picMkLst>
            <pc:docMk/>
            <pc:sldMk cId="0" sldId="261"/>
            <ac:picMk id="13" creationId="{BD7A0524-F430-6E68-A531-51F11C969F0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D4ED8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Georgia"/>
              </a:defRPr>
            </a:pPr>
            <a:r>
              <a:t>TITLE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4008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dirty="0">
                <a:solidFill>
                  <a:srgbClr val="0F172A"/>
                </a:solidFill>
                <a:latin typeface="Arial"/>
              </a:rPr>
              <a:t>•  Problem Statement ID – </a:t>
            </a:r>
            <a:r>
              <a:rPr sz="1700" b="1" dirty="0">
                <a:solidFill>
                  <a:srgbClr val="1D4ED8"/>
                </a:solidFill>
                <a:latin typeface="Arial"/>
              </a:rPr>
              <a:t>SIH</a:t>
            </a:r>
            <a:r>
              <a:rPr lang="en-IN" sz="1700" b="1" dirty="0">
                <a:solidFill>
                  <a:srgbClr val="1D4ED8"/>
                </a:solidFill>
                <a:latin typeface="Arial"/>
              </a:rPr>
              <a:t>26151</a:t>
            </a:r>
          </a:p>
          <a:p>
            <a:pPr>
              <a:spcAft>
                <a:spcPts val="1400"/>
              </a:spcAft>
            </a:pPr>
            <a:r>
              <a:rPr sz="1600" b="1" dirty="0">
                <a:solidFill>
                  <a:srgbClr val="0F172A"/>
                </a:solidFill>
                <a:latin typeface="Arial"/>
              </a:rPr>
              <a:t>•  Problem Statement Title – </a:t>
            </a:r>
            <a:r>
              <a:rPr lang="en-IN" dirty="0"/>
              <a:t>Dark web threat actor de-anonymization</a:t>
            </a:r>
          </a:p>
          <a:p>
            <a:pPr>
              <a:spcAft>
                <a:spcPts val="1400"/>
              </a:spcAft>
            </a:pPr>
            <a:r>
              <a:rPr sz="1700" b="1" dirty="0">
                <a:solidFill>
                  <a:srgbClr val="0F172A"/>
                </a:solidFill>
                <a:latin typeface="Arial"/>
              </a:rPr>
              <a:t>•  Theme – </a:t>
            </a:r>
            <a:r>
              <a:rPr lang="en-IN" dirty="0"/>
              <a:t>Blockchain &amp; Cybersecurity</a:t>
            </a:r>
          </a:p>
          <a:p>
            <a:pPr>
              <a:spcAft>
                <a:spcPts val="1400"/>
              </a:spcAft>
            </a:pPr>
            <a:r>
              <a:rPr sz="1700" b="1" dirty="0">
                <a:solidFill>
                  <a:srgbClr val="0F172A"/>
                </a:solidFill>
                <a:latin typeface="Arial"/>
              </a:rPr>
              <a:t>•  PS Category – </a:t>
            </a:r>
            <a:r>
              <a:rPr sz="1700" b="0" dirty="0">
                <a:solidFill>
                  <a:srgbClr val="0F172A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sz="1700" b="1" dirty="0">
                <a:solidFill>
                  <a:srgbClr val="0F172A"/>
                </a:solidFill>
                <a:latin typeface="Arial"/>
              </a:rPr>
              <a:t>•  Team ID – </a:t>
            </a:r>
            <a:endParaRPr sz="1700" b="0" dirty="0">
              <a:solidFill>
                <a:srgbClr val="0F172A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1700" b="1" dirty="0">
                <a:solidFill>
                  <a:srgbClr val="0F172A"/>
                </a:solidFill>
                <a:latin typeface="Arial"/>
              </a:rPr>
              <a:t>•  Team Name :- </a:t>
            </a:r>
            <a:r>
              <a:rPr lang="en-IN" sz="1700" b="1" dirty="0" err="1">
                <a:solidFill>
                  <a:srgbClr val="0F172A"/>
                </a:solidFill>
                <a:latin typeface="Arial"/>
              </a:rPr>
              <a:t>Indomitus</a:t>
            </a:r>
            <a:endParaRPr lang="en-IN" sz="1700" b="1" dirty="0">
              <a:solidFill>
                <a:srgbClr val="0F172A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1700" b="1" dirty="0">
                <a:solidFill>
                  <a:srgbClr val="0F172A"/>
                </a:solidFill>
                <a:latin typeface="Arial"/>
              </a:rPr>
              <a:t>•  Target Organization :- </a:t>
            </a:r>
            <a:r>
              <a:rPr sz="1700" b="0" dirty="0">
                <a:solidFill>
                  <a:srgbClr val="0F172A"/>
                </a:solidFill>
                <a:latin typeface="Arial"/>
              </a:rPr>
              <a:t>National Technical Research </a:t>
            </a:r>
            <a:r>
              <a:rPr sz="1700" b="0" dirty="0" err="1">
                <a:solidFill>
                  <a:srgbClr val="0F172A"/>
                </a:solidFill>
                <a:latin typeface="Arial"/>
              </a:rPr>
              <a:t>Organisation</a:t>
            </a:r>
            <a:r>
              <a:rPr sz="1700" b="0" dirty="0">
                <a:solidFill>
                  <a:srgbClr val="0F172A"/>
                </a:solidFill>
                <a:latin typeface="Arial"/>
              </a:rPr>
              <a:t> (NTRO)</a:t>
            </a:r>
          </a:p>
        </p:txBody>
      </p:sp>
      <p:pic>
        <p:nvPicPr>
          <p:cNvPr id="6" name="Picture 5" descr="sih_logo_la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45920"/>
            <a:ext cx="3840480" cy="4416552"/>
          </a:xfrm>
          <a:prstGeom prst="rect">
            <a:avLst/>
          </a:prstGeom>
        </p:spPr>
      </p:pic>
      <p:pic>
        <p:nvPicPr>
          <p:cNvPr id="8" name="object 7">
            <a:extLst>
              <a:ext uri="{FF2B5EF4-FFF2-40B4-BE49-F238E27FC236}">
                <a16:creationId xmlns:a16="http://schemas.microsoft.com/office/drawing/2014/main" id="{64BDDFE4-0F6A-B24D-E74A-B1B5EF86CF4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97990" y="211328"/>
            <a:ext cx="1559220" cy="840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92608"/>
            <a:ext cx="164592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rPr lang="en-IN" dirty="0" err="1"/>
              <a:t>Indomitus</a:t>
            </a: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5002581" y="320040"/>
            <a:ext cx="21563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F172A"/>
                </a:solidFill>
                <a:latin typeface="Georgia"/>
              </a:defRPr>
            </a:pPr>
            <a:r>
              <a:rPr lang="en-IN" dirty="0"/>
              <a:t>BHEDAK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D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D4ED8"/>
                </a:solidFill>
                <a:latin typeface="Arial"/>
              </a:defRPr>
            </a:pPr>
            <a:r>
              <a:t>• Proposed Solution :-</a:t>
            </a:r>
          </a:p>
          <a:p>
            <a:pPr>
              <a:spcAft>
                <a:spcPts val="1000"/>
              </a:spcAft>
              <a:defRPr sz="1100" b="1">
                <a:solidFill>
                  <a:srgbClr val="0F172A"/>
                </a:solidFill>
                <a:latin typeface="Arial"/>
              </a:defRPr>
            </a:pPr>
            <a:r>
              <a:t>Autonomous 5-Engine Darknet Intelligence &amp; Cross-Market Attribution Engine powered by Surface OSINT + Tor Misconfig Probing + Neo4j Graph + Siamese RoBERTa Stylometry + BSA Sec 63 Evidentiary Automation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Engine 0: Clearnet OSINT &amp; Surface Correlation:- </a:t>
            </a:r>
            <a:r>
              <a:rPr sz="1000">
                <a:solidFill>
                  <a:srgbClr val="0F172A"/>
                </a:solidFill>
                <a:latin typeface="Arial"/>
              </a:rPr>
              <a:t>Ingests and correlates historical forum handles, email addresses, PGP user IDs, and image EXIF GPS metadata across clearnet repositories and code platforms.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Engine 1: Tor Hidden Service Infrastructure Probing:- </a:t>
            </a:r>
            <a:r>
              <a:rPr sz="1000">
                <a:solidFill>
                  <a:srgbClr val="0F172A"/>
                </a:solidFill>
                <a:latin typeface="Arial"/>
              </a:rPr>
              <a:t>Unmasks physical origin servers through Apache mod_status leaks, /.git/ exposure, X.509 SSL SAN domain inspection, and Favicon MurmurHash3 Shodan pivots.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Engine 2: Multi-Market Graph &amp; Crypto Entity Resolution:- </a:t>
            </a:r>
            <a:r>
              <a:rPr sz="1000">
                <a:solidFill>
                  <a:srgbClr val="0F172A"/>
                </a:solidFill>
                <a:latin typeface="Arial"/>
              </a:rPr>
              <a:t>Resolves actor personas across markets via RFC 4880/9580 master PGP key binding, Bitcoin common-input clustering, and CoinJoin taint mitigation.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Engine 3: AI Stylometry &amp; Behavioral Cadence Profiling:- </a:t>
            </a:r>
            <a:r>
              <a:rPr sz="1000">
                <a:solidFill>
                  <a:srgbClr val="0F172A"/>
                </a:solidFill>
                <a:latin typeface="Arial"/>
              </a:rPr>
              <a:t>Extracts 400+ Writeprints features (Yule's K, character n-grams) combined with Siamese RoBERTa (triplet loss) and 24-hr UTC diurnal sleep trough tracking.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Engine 4: Asymmetric Confidence Scoring Engine:- </a:t>
            </a:r>
            <a:r>
              <a:rPr sz="1000">
                <a:solidFill>
                  <a:srgbClr val="0F172A"/>
                </a:solidFill>
                <a:latin typeface="Arial"/>
              </a:rPr>
              <a:t>Applies strict 0.65 hard cap on probabilistic AI stylometry; mandates deterministic cryptographic/infrastructure proof for High Confidence attribution.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Sovereign Evidence Kit &amp; Government Gateways:- </a:t>
            </a:r>
            <a:r>
              <a:rPr sz="1000">
                <a:solidFill>
                  <a:srgbClr val="0F172A"/>
                </a:solidFill>
                <a:latin typeface="Arial"/>
              </a:rPr>
              <a:t>Generates court-admissible forensic dossiers under Section 63 BSA 2023 (Part A/B dual-cert), automated BNSS Sec 94 notices, and STIX 2.1 feeds.</a:t>
            </a:r>
          </a:p>
        </p:txBody>
      </p:sp>
      <p:pic>
        <p:nvPicPr>
          <p:cNvPr id="8" name="Picture 7" descr="bhedak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852160" cy="4937760"/>
          </a:xfrm>
          <a:prstGeom prst="rect">
            <a:avLst/>
          </a:prstGeom>
        </p:spPr>
      </p:pic>
      <p:pic>
        <p:nvPicPr>
          <p:cNvPr id="10" name="object 7">
            <a:extLst>
              <a:ext uri="{FF2B5EF4-FFF2-40B4-BE49-F238E27FC236}">
                <a16:creationId xmlns:a16="http://schemas.microsoft.com/office/drawing/2014/main" id="{6D323DE8-5387-28F2-DAB7-2BA1D33E07A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97990" y="211328"/>
            <a:ext cx="1559220" cy="8402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92608"/>
            <a:ext cx="164592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rPr lang="en-IN" dirty="0" err="1"/>
              <a:t>Indomitus</a:t>
            </a: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219456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F172A"/>
                </a:solidFill>
                <a:latin typeface="Georgia"/>
              </a:defRPr>
            </a:pPr>
            <a:r>
              <a:t>TECHNICAL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D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1D4ED8"/>
                </a:solidFill>
                <a:latin typeface="Arial"/>
              </a:defRPr>
            </a:pPr>
            <a:r>
              <a:t>• Technologies to be Used:-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Ingestion &amp; Tor Pool:- </a:t>
            </a:r>
            <a:r>
              <a:rPr sz="900">
                <a:solidFill>
                  <a:srgbClr val="0F172A"/>
                </a:solidFill>
                <a:latin typeface="Arial"/>
              </a:rPr>
              <a:t>tor daemon pool (8 SOCKS5h instances), Python stem cycler, Playwright Stealth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Backend &amp; Core Microservices:- </a:t>
            </a:r>
            <a:r>
              <a:rPr sz="900">
                <a:solidFill>
                  <a:srgbClr val="0F172A"/>
                </a:solidFill>
                <a:latin typeface="Arial"/>
              </a:rPr>
              <a:t>Go (High-throughput RPCs), Python Celery + Redis Streams, FastAPI microservices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Multi-Model Databases:- </a:t>
            </a:r>
            <a:r>
              <a:rPr sz="900">
                <a:solidFill>
                  <a:srgbClr val="0F172A"/>
                </a:solidFill>
                <a:latin typeface="Arial"/>
              </a:rPr>
              <a:t>Neo4j 5 (Identity property graph), Elasticsearch 8 (Vector search), TimescaleDB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AI Stylometry &amp; NLP:- </a:t>
            </a:r>
            <a:r>
              <a:rPr sz="900">
                <a:solidFill>
                  <a:srgbClr val="0F172A"/>
                </a:solidFill>
                <a:latin typeface="Arial"/>
              </a:rPr>
              <a:t>Hugging Face Transformers (RoBERTa triplet loss), BERTopic (HDBSCAN), Scikit-Learn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Forensic Cryptography:- </a:t>
            </a:r>
            <a:r>
              <a:rPr sz="900">
                <a:solidFill>
                  <a:srgbClr val="0F172A"/>
                </a:solidFill>
                <a:latin typeface="Arial"/>
              </a:rPr>
              <a:t>OpenSSL (SHA-256 / Ed25519), RFC 3161 TSP timestamping, ReportLab PDF engine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Sovereign Cloud &amp; Infra:- </a:t>
            </a:r>
            <a:r>
              <a:rPr sz="900">
                <a:solidFill>
                  <a:srgbClr val="0F172A"/>
                </a:solidFill>
                <a:latin typeface="Arial"/>
              </a:rPr>
              <a:t>NIC MeghRaj Cloud / Air-Gapped Linux, Docker Engine, Kubernetes orchestration</a:t>
            </a:r>
          </a:p>
          <a:p>
            <a:pPr>
              <a:spcAft>
                <a:spcPts val="1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Sovereign Gateways:- </a:t>
            </a:r>
            <a:r>
              <a:rPr sz="900">
                <a:solidFill>
                  <a:srgbClr val="0F172A"/>
                </a:solidFill>
                <a:latin typeface="Arial"/>
              </a:rPr>
              <a:t>I4C Samanvaya, CERT-In STIX 2.1 Threat Exchange, FIU-IND FINGate, NCRP Repository</a:t>
            </a:r>
          </a:p>
        </p:txBody>
      </p:sp>
      <p:pic>
        <p:nvPicPr>
          <p:cNvPr id="8" name="Picture 7" descr="bhedak_process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5212080" cy="1097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230368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D4ED8"/>
                </a:solidFill>
                <a:latin typeface="Arial"/>
              </a:defRPr>
            </a:pPr>
            <a:r>
              <a:t>• Process Flow :-</a:t>
            </a:r>
          </a:p>
          <a:p>
            <a:pPr>
              <a:defRPr sz="950" b="1">
                <a:solidFill>
                  <a:srgbClr val="0F172A"/>
                </a:solidFill>
                <a:latin typeface="Arial"/>
              </a:defRPr>
            </a:pPr>
            <a:r>
              <a:t>Tor Ingestion → Infrastructure &amp; OSINT Probing → Neo4j Cross-Market Graph Linking → AI Stylometry &amp; Diurnal Profiling → Asymmetric Scoring → BSA Sec 63 Court Kit</a:t>
            </a:r>
          </a:p>
        </p:txBody>
      </p:sp>
      <p:pic>
        <p:nvPicPr>
          <p:cNvPr id="10" name="Picture 9" descr="bhedak_tech_stack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34440"/>
            <a:ext cx="5852160" cy="3749039"/>
          </a:xfrm>
          <a:prstGeom prst="rect">
            <a:avLst/>
          </a:prstGeom>
        </p:spPr>
      </p:pic>
      <p:pic>
        <p:nvPicPr>
          <p:cNvPr id="13" name="object 7">
            <a:extLst>
              <a:ext uri="{FF2B5EF4-FFF2-40B4-BE49-F238E27FC236}">
                <a16:creationId xmlns:a16="http://schemas.microsoft.com/office/drawing/2014/main" id="{C19EC205-E494-E331-AA2B-2F59AD29456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497990" y="211328"/>
            <a:ext cx="1559220" cy="8402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92608"/>
            <a:ext cx="164592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rPr lang="en-IN" dirty="0" err="1"/>
              <a:t>Indomitus</a:t>
            </a: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219456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F172A"/>
                </a:solidFill>
                <a:latin typeface="Georgia"/>
              </a:defRPr>
            </a:pPr>
            <a:r>
              <a:t>FEASIBILITY AND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D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53035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Feasibility :-</a:t>
            </a:r>
          </a:p>
          <a:p>
            <a:pPr>
              <a:spcAft>
                <a:spcPts val="100"/>
              </a:spcAft>
            </a:pPr>
            <a:r>
              <a:rPr sz="900" b="1">
                <a:latin typeface="Arial"/>
              </a:rPr>
              <a:t>• Technical: </a:t>
            </a:r>
            <a:r>
              <a:rPr sz="850">
                <a:latin typeface="Arial"/>
              </a:rPr>
              <a:t>Scalable microservices resolving 50k+ nodes in &lt;180s via Neo4j &amp; Redis</a:t>
            </a:r>
          </a:p>
          <a:p>
            <a:pPr>
              <a:spcAft>
                <a:spcPts val="100"/>
              </a:spcAft>
            </a:pPr>
            <a:r>
              <a:rPr sz="900" b="1">
                <a:latin typeface="Arial"/>
              </a:rPr>
              <a:t>• Economic: </a:t>
            </a:r>
            <a:r>
              <a:rPr sz="850">
                <a:latin typeface="Arial"/>
              </a:rPr>
              <a:t>100% sovereign open-source stack eliminating ₹100Cr+ annual SaaS licenses</a:t>
            </a:r>
          </a:p>
          <a:p>
            <a:pPr>
              <a:spcAft>
                <a:spcPts val="100"/>
              </a:spcAft>
            </a:pPr>
            <a:r>
              <a:rPr sz="900" b="1">
                <a:latin typeface="Arial"/>
              </a:rPr>
              <a:t>• Operational: </a:t>
            </a:r>
            <a:r>
              <a:rPr sz="850">
                <a:latin typeface="Arial"/>
              </a:rPr>
              <a:t>Simple visual canvas, 1-click legal kit &amp; air-gapped Mode C for SCIFs</a:t>
            </a:r>
          </a:p>
          <a:p>
            <a:pPr>
              <a:spcAft>
                <a:spcPts val="100"/>
              </a:spcAft>
            </a:pPr>
            <a:r>
              <a:rPr sz="900" b="1">
                <a:latin typeface="Arial"/>
              </a:rPr>
              <a:t>• Social: </a:t>
            </a:r>
            <a:r>
              <a:rPr sz="850">
                <a:latin typeface="Arial"/>
              </a:rPr>
              <a:t>Dismantles cyber heists, ransomware rings, and darknet syndicate operations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50" b="1">
                <a:solidFill>
                  <a:srgbClr val="0F172A"/>
                </a:solidFill>
                <a:latin typeface="Arial"/>
              </a:defRPr>
            </a:pPr>
            <a:r>
              <a:t>Potential Challenges:-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Tor v3 cryptographic anonymity with 56-char ephemeral Ed25519 public keys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Threat actor re-branding, PGP key rotation, and wallet address abandonment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Adversarial AI sanitization (passing darknet posts through LLMs to mask style)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High-latency Tor circuits and anti-scraping CAPTCHA barriers on darknet forums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50" b="1">
                <a:solidFill>
                  <a:srgbClr val="0F172A"/>
                </a:solidFill>
                <a:latin typeface="Arial"/>
              </a:defRPr>
            </a:pPr>
            <a:r>
              <a:t>Mitigation Strategies:-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Application-layer misconfiguration audits (Apache mod_status, SSL SAN, Favicon MMH3)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Immutable Neo4j graph preserving historical aliases, PGP subkeys, and co-spent wallets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Perplexity &amp; burstiness adversarial classifiers suppressing AI scores when detected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Multi-instance Tor pool (8 circuits) with stem NEWNYM rotation + Playwright Stealth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50" b="1">
                <a:solidFill>
                  <a:srgbClr val="0F172A"/>
                </a:solidFill>
                <a:latin typeface="Arial"/>
              </a:defRPr>
            </a:pPr>
            <a:r>
              <a:t>Viability:-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Proven architecture validated against historical cases (Silk Road, AlphaBay, BreachForums)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Zero recurring foreign SaaS costs; fully compliant with Make in India &amp; Atmanirbhar Bharat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Mission-critical national security impact protecting critical information infrastructure (CII)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Adaptable for NTRO, IB, RAW, CERT-In, CBI, and State Cyber Crime Divisions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50" b="1">
                <a:solidFill>
                  <a:srgbClr val="0F172A"/>
                </a:solidFill>
                <a:latin typeface="Arial"/>
              </a:defRPr>
            </a:pPr>
            <a:r>
              <a:t>Business Potential:-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Strategic adoption across India's premier intelligence, defense, and law enforcement agencies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Direct API push to I4C Samanvaya, NCRP suspect registry, and CERT-In national threat feed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Eliminates foreign intelligence exposure—zero classified investigative data leaves sovereign control</a:t>
            </a:r>
          </a:p>
          <a:p>
            <a:pPr>
              <a:spcAft>
                <a:spcPts val="100"/>
              </a:spcAft>
              <a:defRPr sz="850">
                <a:latin typeface="Arial"/>
              </a:defRPr>
            </a:pPr>
            <a:r>
              <a:t>• Commercialization potential across banking CERTs, defense PSUs, and critical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23444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Use Cases:-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Ransomware threat actor de-anonymization &amp; cryptocurrency extortion tracing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Darknet arms, narcotics, and zero-day exploit brokerage syndicate attribution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State-sponsored APT persona mapping across clearnet forums and darknet forums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Judicial prosecution support with tamper-proof Section 63 BSA electronic evidence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Challenges:-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Non-cooperative foreign bulletproof hosting jurisdictions ignoring Indian MLATs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Tor hidden services fronted by reverse proxies / CDNs masking origin server IPs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Privacy coins (Monero) obscuring on-chain transaction graph links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Risk of evidentiary challenge in court regarding algorithmic bias and AI hallucinations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Solutions:-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Clearnet OPSEC correlation (Engine 0) bypassing network-layer hosting roadblocks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BGP ASN inspection + historical DNS records identifying pre-proxy origin hosts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Off-chain marketplace vendor escrow deposit matching with order timestamps</a:t>
            </a:r>
          </a:p>
          <a:p>
            <a:pPr>
              <a:spcAft>
                <a:spcPts val="150"/>
              </a:spcAft>
              <a:defRPr sz="950">
                <a:latin typeface="Arial"/>
              </a:defRPr>
            </a:pPr>
            <a:r>
              <a:t>• Asymmetric 0.65 AI cap + RFC 3161 timestamps guaranteeing Section 63 admissibility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343400"/>
            <a:ext cx="5486400" cy="1920240"/>
          </a:xfrm>
          <a:prstGeom prst="roundRect">
            <a:avLst/>
          </a:prstGeom>
          <a:solidFill>
            <a:srgbClr val="FEF3C7"/>
          </a:solidFill>
          <a:ln w="228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SUPPORTING FACTS FOR FEASIBILITY AND VIABILITY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• 100% of major darknet takedowns (Silk Road, AlphaBay, BreachForums) were solved via clearnet OPSEC &amp; server leaks.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• BHEDAK resolves complex cross-market identity clusters in &lt;180 seconds across 50,000+ graph nodes.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• Strict 0.65 asymmetric AI cap prevents false-positive convictions while preserving judicial integrity.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  <a:latin typeface="Arial"/>
              </a:defRPr>
            </a:pPr>
            <a:r>
              <a:t>• 100% sovereign deployment eliminates ₹100+ Crore annual forex outflow to foreign intelligence SaaS vendors.</a:t>
            </a:r>
          </a:p>
        </p:txBody>
      </p:sp>
      <p:pic>
        <p:nvPicPr>
          <p:cNvPr id="11" name="object 7">
            <a:extLst>
              <a:ext uri="{FF2B5EF4-FFF2-40B4-BE49-F238E27FC236}">
                <a16:creationId xmlns:a16="http://schemas.microsoft.com/office/drawing/2014/main" id="{31345D4C-F74D-0796-8928-B8AB8DAA6C6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97990" y="211328"/>
            <a:ext cx="1559220" cy="8402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92608"/>
            <a:ext cx="164592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rPr lang="en-IN" dirty="0" err="1"/>
              <a:t>Indomitus</a:t>
            </a: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219456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F172A"/>
                </a:solidFill>
                <a:latin typeface="Georgia"/>
              </a:defRPr>
            </a:pPr>
            <a:r>
              <a:t>IMPACT AND BENEFITS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D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D4ED8"/>
                </a:solidFill>
                <a:latin typeface="Arial"/>
              </a:defRPr>
            </a:pPr>
            <a:r>
              <a:t>• Potential impact on the target audience:-</a:t>
            </a:r>
          </a:p>
          <a:p>
            <a:pPr>
              <a:spcAft>
                <a:spcPts val="150"/>
              </a:spcAft>
            </a:pPr>
            <a:r>
              <a:rPr sz="950" b="1">
                <a:latin typeface="Arial"/>
              </a:rPr>
              <a:t>• NTRO Analysts: </a:t>
            </a:r>
            <a:r>
              <a:rPr sz="900">
                <a:latin typeface="Arial"/>
              </a:rPr>
              <a:t>Multi-market correlation turning fragmented leads into dossiers in minutes.</a:t>
            </a:r>
          </a:p>
          <a:p>
            <a:pPr>
              <a:spcAft>
                <a:spcPts val="150"/>
              </a:spcAft>
            </a:pPr>
            <a:r>
              <a:rPr sz="950" b="1">
                <a:latin typeface="Arial"/>
              </a:rPr>
              <a:t>• CBI &amp; LEAs: </a:t>
            </a:r>
            <a:r>
              <a:rPr sz="900">
                <a:latin typeface="Arial"/>
              </a:rPr>
              <a:t>Pre-filled Sec 94 BNSS preservation notices and RFC 3161 court-ready evidence.</a:t>
            </a:r>
          </a:p>
          <a:p>
            <a:pPr>
              <a:spcAft>
                <a:spcPts val="150"/>
              </a:spcAft>
            </a:pPr>
            <a:r>
              <a:rPr sz="950" b="1">
                <a:latin typeface="Arial"/>
              </a:rPr>
              <a:t>• CERT-In &amp; NCIIPC: </a:t>
            </a:r>
            <a:r>
              <a:rPr sz="900">
                <a:latin typeface="Arial"/>
              </a:rPr>
              <a:t>Machine-readable STIX 2.1 threat feeds protecting national critical infra (CII).</a:t>
            </a:r>
          </a:p>
          <a:p>
            <a:pPr>
              <a:spcAft>
                <a:spcPts val="150"/>
              </a:spcAft>
            </a:pPr>
            <a:r>
              <a:rPr sz="950" b="1">
                <a:latin typeface="Arial"/>
              </a:rPr>
              <a:t>• Indian Citizens: </a:t>
            </a:r>
            <a:r>
              <a:rPr sz="900">
                <a:latin typeface="Arial"/>
              </a:rPr>
              <a:t>Dismantles ransomware cartels, drug/arms syndicates, and extortion rings.</a:t>
            </a:r>
          </a:p>
          <a:p>
            <a:pPr>
              <a:spcBef>
                <a:spcPts val="350"/>
              </a:spcBef>
              <a:spcAft>
                <a:spcPts val="150"/>
              </a:spcAft>
              <a:defRPr sz="1500" b="1">
                <a:solidFill>
                  <a:srgbClr val="1D4ED8"/>
                </a:solidFill>
                <a:latin typeface="Arial"/>
              </a:defRPr>
            </a:pPr>
            <a:r>
              <a:t>• Key Intelligence &amp; Laundering Insights</a:t>
            </a:r>
          </a:p>
          <a:p>
            <a:pPr>
              <a:spcAft>
                <a:spcPts val="150"/>
              </a:spcAft>
              <a:defRPr sz="900">
                <a:latin typeface="Arial"/>
              </a:defRPr>
            </a:pPr>
            <a:r>
              <a:t>• 90%+ of darknet actors reuse clearnet emails, handles, or PGP keys across lifecycles.</a:t>
            </a:r>
          </a:p>
          <a:p>
            <a:pPr>
              <a:spcAft>
                <a:spcPts val="150"/>
              </a:spcAft>
              <a:defRPr sz="900">
                <a:latin typeface="Arial"/>
              </a:defRPr>
            </a:pPr>
            <a:r>
              <a:t>• 84% of darknet hidden services leak origin infra (JARM, Favicon, mod_status, SSL).</a:t>
            </a:r>
          </a:p>
          <a:p>
            <a:pPr>
              <a:spcAft>
                <a:spcPts val="150"/>
              </a:spcAft>
              <a:defRPr sz="900">
                <a:latin typeface="Arial"/>
              </a:defRPr>
            </a:pPr>
            <a:r>
              <a:t>• 24-hr UTC diurnal posting histograms establish threat actor timezone bands within ±1 hr.</a:t>
            </a:r>
          </a:p>
          <a:p>
            <a:pPr>
              <a:spcAft>
                <a:spcPts val="150"/>
              </a:spcAft>
              <a:defRPr sz="900">
                <a:latin typeface="Arial"/>
              </a:defRPr>
            </a:pPr>
            <a:r>
              <a:t>• Section 63 BSA compliance mandates Part A (Controller) &amp; Part B (Expert) dual-cert.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15568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1600" b="1">
                <a:solidFill>
                  <a:srgbClr val="1D4ED8"/>
                </a:solidFill>
                <a:latin typeface="Arial"/>
              </a:defRPr>
            </a:pPr>
            <a:r>
              <a:t>• Unique Outcomes from Our Solution</a:t>
            </a:r>
          </a:p>
          <a:p>
            <a:pPr>
              <a:spcAft>
                <a:spcPts val="200"/>
              </a:spcAft>
            </a:pPr>
            <a:r>
              <a:rPr sz="950" b="1">
                <a:latin typeface="Arial"/>
              </a:rPr>
              <a:t>• Attribution Acceleration: </a:t>
            </a:r>
            <a:r>
              <a:rPr sz="900">
                <a:latin typeface="Arial"/>
              </a:rPr>
              <a:t>Cuts threat actor de-anonymization investigation cycles from months to &lt;1 hour.</a:t>
            </a:r>
          </a:p>
          <a:p>
            <a:pPr>
              <a:spcAft>
                <a:spcPts val="200"/>
              </a:spcAft>
            </a:pPr>
            <a:r>
              <a:rPr sz="950" b="1">
                <a:latin typeface="Arial"/>
              </a:rPr>
              <a:t>• Sovereign Autonomy: </a:t>
            </a:r>
            <a:r>
              <a:rPr sz="900">
                <a:latin typeface="Arial"/>
              </a:rPr>
              <a:t>100% indigenous IP preventing classified Indian investigation data from leaking to foreign clouds.</a:t>
            </a:r>
          </a:p>
          <a:p>
            <a:pPr>
              <a:spcAft>
                <a:spcPts val="200"/>
              </a:spcAft>
            </a:pPr>
            <a:r>
              <a:rPr sz="950" b="1">
                <a:latin typeface="Arial"/>
              </a:rPr>
              <a:t>• Judicial Admissibility: </a:t>
            </a:r>
            <a:r>
              <a:rPr sz="900">
                <a:latin typeface="Arial"/>
              </a:rPr>
              <a:t>100% court compliance via cryptographic SHA-256 hash chains &amp; Section 63 BSA certification.</a:t>
            </a:r>
          </a:p>
          <a:p>
            <a:pPr>
              <a:spcAft>
                <a:spcPts val="200"/>
              </a:spcAft>
            </a:pPr>
            <a:r>
              <a:rPr sz="950" b="1">
                <a:latin typeface="Arial"/>
              </a:rPr>
              <a:t>• Zero False Accusation: </a:t>
            </a:r>
            <a:r>
              <a:rPr sz="900">
                <a:latin typeface="Arial"/>
              </a:rPr>
              <a:t>Asymmetric scoring prevents probabilistic AI stylometry from triggering wrongful attribution.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D4ED8"/>
                </a:solidFill>
                <a:latin typeface="Arial"/>
              </a:defRPr>
            </a:pPr>
            <a:r>
              <a:t>• Benefits of the Solution (Social, Economic, Environmental)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11277295" cy="2039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6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Type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Benefit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Supporting Example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Social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Neutralizing violent cyber syndicates &amp; cyber terrorism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Identifies operators of darknet arms/narcotics rings and ransomware extortion networks.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endParaRPr/>
                    </a:p>
                  </a:txBody>
                  <a:tcPr marL="73152" marR="73152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Restoring public confidence in digital sovereignty</a:t>
                      </a:r>
                    </a:p>
                  </a:txBody>
                  <a:tcPr marL="73152" marR="73152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Protects citizens from leaked data exploitation and financial blackmail on underground forums.</a:t>
                      </a:r>
                    </a:p>
                  </a:txBody>
                  <a:tcPr marL="73152" marR="73152" marT="36576" marB="36576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Economic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Forex preservation &amp; elimination of foreign vendor lock-in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Saves ₹100 Cr+ annually in foreign licenses (Palantir/DarkOwl) through sovereign open stack.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endParaRPr/>
                    </a:p>
                  </a:txBody>
                  <a:tcPr marL="73152" marR="73152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Recovery of extorted state &amp; private enterprise assets</a:t>
                      </a:r>
                    </a:p>
                  </a:txBody>
                  <a:tcPr marL="73152" marR="73152" marT="36576" marB="36576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Traces illicit crypto flows to domestic and international VASPs for freezing under PMLA.</a:t>
                      </a:r>
                    </a:p>
                  </a:txBody>
                  <a:tcPr marL="73152" marR="73152" marT="36576" marB="36576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Environmental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100% paperless sovereign digital intelligence pipeline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Replaces physical courier memos and manual case files with automated STIX 2.1 and digital e-notices.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2" name="object 7">
            <a:extLst>
              <a:ext uri="{FF2B5EF4-FFF2-40B4-BE49-F238E27FC236}">
                <a16:creationId xmlns:a16="http://schemas.microsoft.com/office/drawing/2014/main" id="{F8C18725-EF1C-2769-6F4B-DCF8097595C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97990" y="211328"/>
            <a:ext cx="1559220" cy="8402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92608"/>
            <a:ext cx="1645920" cy="777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rPr lang="en-IN" dirty="0" err="1"/>
              <a:t>Indomitus</a:t>
            </a: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219456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F172A"/>
                </a:solidFill>
                <a:latin typeface="Georgia"/>
              </a:defRPr>
            </a:pPr>
            <a:r>
              <a:t>RESEARCH AND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D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30352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D4ED8"/>
                </a:solidFill>
                <a:latin typeface="Arial"/>
              </a:defRPr>
            </a:pPr>
            <a:r>
              <a:rPr dirty="0"/>
              <a:t>• Research Papers &amp; Legal Frameworks:</a:t>
            </a:r>
          </a:p>
          <a:p>
            <a:pPr>
              <a:spcAft>
                <a:spcPts val="150"/>
              </a:spcAft>
            </a:pPr>
            <a:r>
              <a:rPr sz="1050" b="1" dirty="0">
                <a:latin typeface="Arial"/>
              </a:rPr>
              <a:t>a. </a:t>
            </a:r>
            <a:r>
              <a:rPr sz="1000" dirty="0">
                <a:latin typeface="Arial"/>
              </a:rPr>
              <a:t>Abbasi, A., &amp; Chen, H., "</a:t>
            </a:r>
            <a:r>
              <a:rPr sz="1000" dirty="0" err="1">
                <a:latin typeface="Arial"/>
              </a:rPr>
              <a:t>Writeprints</a:t>
            </a:r>
            <a:r>
              <a:rPr sz="1000" dirty="0">
                <a:latin typeface="Arial"/>
              </a:rPr>
              <a:t>: A Stylometric Approach to Identity-Level Identification," ACM TOIS, 2008.</a:t>
            </a:r>
          </a:p>
          <a:p>
            <a:pPr>
              <a:spcAft>
                <a:spcPts val="150"/>
              </a:spcAft>
            </a:pPr>
            <a:r>
              <a:rPr sz="1050" b="1" dirty="0">
                <a:latin typeface="Arial"/>
              </a:rPr>
              <a:t>b. </a:t>
            </a:r>
            <a:r>
              <a:rPr sz="1000" dirty="0">
                <a:latin typeface="Arial"/>
              </a:rPr>
              <a:t>Biryukov, A., et al., "</a:t>
            </a:r>
            <a:r>
              <a:rPr sz="1000" dirty="0" err="1">
                <a:latin typeface="Arial"/>
              </a:rPr>
              <a:t>Deanonymisation</a:t>
            </a:r>
            <a:r>
              <a:rPr sz="1000" dirty="0">
                <a:latin typeface="Arial"/>
              </a:rPr>
              <a:t> of Clients in Bitcoin P2P Network," ACM CCS, 2014.</a:t>
            </a:r>
          </a:p>
          <a:p>
            <a:pPr>
              <a:spcAft>
                <a:spcPts val="150"/>
              </a:spcAft>
            </a:pPr>
            <a:r>
              <a:rPr sz="1050" b="1" dirty="0">
                <a:latin typeface="Arial"/>
              </a:rPr>
              <a:t>c. </a:t>
            </a:r>
            <a:r>
              <a:rPr sz="1000" dirty="0">
                <a:latin typeface="Arial"/>
              </a:rPr>
              <a:t>Al-</a:t>
            </a:r>
            <a:r>
              <a:rPr sz="1000" dirty="0" err="1">
                <a:latin typeface="Arial"/>
              </a:rPr>
              <a:t>Nabki</a:t>
            </a:r>
            <a:r>
              <a:rPr sz="1000" dirty="0">
                <a:latin typeface="Arial"/>
              </a:rPr>
              <a:t>, M., et al., "</a:t>
            </a:r>
            <a:r>
              <a:rPr sz="1000" dirty="0" err="1">
                <a:latin typeface="Arial"/>
              </a:rPr>
              <a:t>ToDark</a:t>
            </a:r>
            <a:r>
              <a:rPr sz="1000" dirty="0">
                <a:latin typeface="Arial"/>
              </a:rPr>
              <a:t>: Deep Web Threat Intelligence Mining Framework," IEEE Access, 2021.</a:t>
            </a:r>
          </a:p>
          <a:p>
            <a:pPr>
              <a:spcAft>
                <a:spcPts val="150"/>
              </a:spcAft>
            </a:pPr>
            <a:r>
              <a:rPr sz="1050" b="1" dirty="0">
                <a:latin typeface="Arial"/>
              </a:rPr>
              <a:t>d. </a:t>
            </a:r>
            <a:r>
              <a:rPr sz="1000" dirty="0">
                <a:latin typeface="Arial"/>
              </a:rPr>
              <a:t>Ministry of Law &amp; Justice, Bharatiya </a:t>
            </a:r>
            <a:r>
              <a:rPr sz="1000" dirty="0" err="1">
                <a:latin typeface="Arial"/>
              </a:rPr>
              <a:t>Sakshya</a:t>
            </a:r>
            <a:r>
              <a:rPr sz="1000" dirty="0">
                <a:latin typeface="Arial"/>
              </a:rPr>
              <a:t> </a:t>
            </a:r>
            <a:r>
              <a:rPr sz="1000" dirty="0" err="1">
                <a:latin typeface="Arial"/>
              </a:rPr>
              <a:t>Adhiniyam</a:t>
            </a:r>
            <a:r>
              <a:rPr sz="1000" dirty="0">
                <a:latin typeface="Arial"/>
              </a:rPr>
              <a:t> (BSA) 2023, Section 63 (Electronic Records).</a:t>
            </a:r>
          </a:p>
          <a:p>
            <a:pPr>
              <a:spcAft>
                <a:spcPts val="150"/>
              </a:spcAft>
            </a:pPr>
            <a:r>
              <a:rPr sz="1050" b="1" dirty="0">
                <a:latin typeface="Arial"/>
              </a:rPr>
              <a:t>e. </a:t>
            </a:r>
            <a:r>
              <a:rPr sz="1000" dirty="0">
                <a:latin typeface="Arial"/>
              </a:rPr>
              <a:t>Ministry of Home Affairs, Bharatiya Nagarik Suraksha Sanhita (BNSS) 2023, Section 94 (Production of Documents).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D4ED8"/>
                </a:solidFill>
                <a:latin typeface="Arial"/>
              </a:defRPr>
            </a:pPr>
            <a:r>
              <a:rPr dirty="0"/>
              <a:t>• Existing Dark Web &amp; Attribution Platforms:</a:t>
            </a:r>
          </a:p>
          <a:p>
            <a:pPr>
              <a:spcAft>
                <a:spcPts val="100"/>
              </a:spcAft>
            </a:pPr>
            <a:r>
              <a:rPr sz="1050" b="1" dirty="0">
                <a:latin typeface="Arial"/>
              </a:rPr>
              <a:t>a. Palantir Gotham / Foundry: </a:t>
            </a:r>
            <a:r>
              <a:rPr sz="1050" u="sng" dirty="0">
                <a:solidFill>
                  <a:srgbClr val="1D4ED8"/>
                </a:solidFill>
                <a:latin typeface="Arial"/>
              </a:rPr>
              <a:t>https://www.palantir.com</a:t>
            </a:r>
          </a:p>
          <a:p>
            <a:pPr>
              <a:spcAft>
                <a:spcPts val="100"/>
              </a:spcAft>
            </a:pPr>
            <a:r>
              <a:rPr sz="1050" b="1" dirty="0">
                <a:latin typeface="Arial"/>
              </a:rPr>
              <a:t>b. </a:t>
            </a:r>
            <a:r>
              <a:rPr sz="1050" b="1" dirty="0" err="1">
                <a:latin typeface="Arial"/>
              </a:rPr>
              <a:t>DarkOwl</a:t>
            </a:r>
            <a:r>
              <a:rPr sz="1050" b="1" dirty="0">
                <a:latin typeface="Arial"/>
              </a:rPr>
              <a:t> Vision Darknet Intel: </a:t>
            </a:r>
            <a:r>
              <a:rPr sz="1050" u="sng" dirty="0">
                <a:solidFill>
                  <a:srgbClr val="1D4ED8"/>
                </a:solidFill>
                <a:latin typeface="Arial"/>
              </a:rPr>
              <a:t>https://www.darkowl.com</a:t>
            </a:r>
          </a:p>
          <a:p>
            <a:pPr>
              <a:spcAft>
                <a:spcPts val="100"/>
              </a:spcAft>
            </a:pPr>
            <a:r>
              <a:rPr sz="1050" b="1" dirty="0">
                <a:latin typeface="Arial"/>
              </a:rPr>
              <a:t>c. Chainalysis Reactor / Storyline: </a:t>
            </a:r>
            <a:r>
              <a:rPr sz="1050" u="sng" dirty="0">
                <a:solidFill>
                  <a:srgbClr val="1D4ED8"/>
                </a:solidFill>
                <a:latin typeface="Arial"/>
              </a:rPr>
              <a:t>https://www.chainalysis.com</a:t>
            </a:r>
          </a:p>
        </p:txBody>
      </p:sp>
      <p:pic>
        <p:nvPicPr>
          <p:cNvPr id="9" name="Picture 8" descr="bhedak_competitor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34440"/>
            <a:ext cx="5852160" cy="37490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0292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D4ED8"/>
                </a:solidFill>
                <a:latin typeface="Arial"/>
              </a:defRPr>
            </a:pPr>
            <a:r>
              <a:t>• Research Flow:</a:t>
            </a:r>
          </a:p>
        </p:txBody>
      </p:sp>
      <p:pic>
        <p:nvPicPr>
          <p:cNvPr id="11" name="Picture 10" descr="bhedak_research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49240"/>
            <a:ext cx="11277295" cy="960120"/>
          </a:xfrm>
          <a:prstGeom prst="rect">
            <a:avLst/>
          </a:prstGeom>
        </p:spPr>
      </p:pic>
      <p:pic>
        <p:nvPicPr>
          <p:cNvPr id="13" name="object 7">
            <a:extLst>
              <a:ext uri="{FF2B5EF4-FFF2-40B4-BE49-F238E27FC236}">
                <a16:creationId xmlns:a16="http://schemas.microsoft.com/office/drawing/2014/main" id="{BD7A0524-F430-6E68-A531-51F11C969F0E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497990" y="211328"/>
            <a:ext cx="1559220" cy="8402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1574</Words>
  <Application>Microsoft Office PowerPoint</Application>
  <PresentationFormat>Widescreen</PresentationFormat>
  <Paragraphs>135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Deepak Sharma</cp:lastModifiedBy>
  <cp:revision>1</cp:revision>
  <dcterms:created xsi:type="dcterms:W3CDTF">2013-01-27T09:14:16Z</dcterms:created>
  <dcterms:modified xsi:type="dcterms:W3CDTF">2026-09-08T16:31:36Z</dcterms:modified>
  <cp:category/>
</cp:coreProperties>
</file>