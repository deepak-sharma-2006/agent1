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SMART INDIA HACKATHON 2026</a:t>
            </a:r>
          </a:p>
        </p:txBody>
      </p:sp>
      <p:pic>
        <p:nvPicPr>
          <p:cNvPr id="3" name="Picture 2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FAFB"/>
                </a:solidFill>
                <a:latin typeface="Segoe UI"/>
              </a:defRPr>
            </a:pPr>
            <a:r>
              <a:t>Idea Title: Autonomous Forensic Intelligence &amp; Cross-Platform Linkage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9FAFB"/>
                </a:solidFill>
                <a:latin typeface="Segoe UI"/>
              </a:rPr>
              <a:t>•  Problem Statement ID – </a:t>
            </a:r>
            <a:r>
              <a:rPr sz="1700" b="1">
                <a:solidFill>
                  <a:srgbClr val="38BDF8"/>
                </a:solidFill>
                <a:latin typeface="Segoe UI"/>
              </a:rPr>
              <a:t>SIH2026-NTRO-DW-02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9FAFB"/>
                </a:solidFill>
                <a:latin typeface="Segoe UI"/>
              </a:rPr>
              <a:t>•  Problem Statement Title </a:t>
            </a:r>
            <a:r>
              <a:rPr sz="1550" b="0">
                <a:solidFill>
                  <a:srgbClr val="F9FAFB"/>
                </a:solidFill>
                <a:latin typeface="Segoe UI"/>
              </a:rPr>
              <a:t>Dark Web Threat Actor De-Anonymization &amp; Attribution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9FAFB"/>
                </a:solidFill>
                <a:latin typeface="Segoe UI"/>
              </a:rPr>
              <a:t>•  Theme </a:t>
            </a:r>
            <a:r>
              <a:rPr sz="1700" b="0">
                <a:solidFill>
                  <a:srgbClr val="F9FAFB"/>
                </a:solidFill>
                <a:latin typeface="Segoe UI"/>
              </a:rPr>
              <a:t>Smart Automation / Advanced AI &amp; Security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9FAFB"/>
                </a:solidFill>
                <a:latin typeface="Segoe UI"/>
              </a:rPr>
              <a:t>•  PS Category </a:t>
            </a:r>
            <a:r>
              <a:rPr sz="1700" b="0">
                <a:solidFill>
                  <a:srgbClr val="F9FAFB"/>
                </a:solidFill>
                <a:latin typeface="Segoe UI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9FAFB"/>
                </a:solidFill>
                <a:latin typeface="Segoe UI"/>
              </a:rPr>
              <a:t>•  Team ID </a:t>
            </a:r>
            <a:r>
              <a:rPr sz="1700" b="0">
                <a:solidFill>
                  <a:srgbClr val="F9FAFB"/>
                </a:solidFill>
                <a:latin typeface="Segoe UI"/>
              </a:rPr>
              <a:t>SIH2026-BHEDAK-01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9FAFB"/>
                </a:solidFill>
                <a:latin typeface="Segoe UI"/>
              </a:rPr>
              <a:t>•  Team Name :- </a:t>
            </a:r>
            <a:r>
              <a:rPr sz="1700" b="1">
                <a:solidFill>
                  <a:srgbClr val="38BDF8"/>
                </a:solidFill>
                <a:latin typeface="Segoe UI"/>
              </a:rPr>
              <a:t>BHEDAK</a:t>
            </a:r>
          </a:p>
        </p:txBody>
      </p:sp>
      <p:pic>
        <p:nvPicPr>
          <p:cNvPr id="6" name="Picture 5" descr="sih_logo_l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645920"/>
            <a:ext cx="3931920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9FAFB"/>
                </a:solidFill>
                <a:latin typeface="Segoe UI"/>
              </a:defRPr>
            </a:pPr>
            <a:r>
              <a:t>BHEDAK</a:t>
            </a:r>
          </a:p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(भेदक)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9FAFB"/>
                </a:solidFill>
                <a:latin typeface="Segoe UI"/>
              </a:defRPr>
            </a:pPr>
            <a:r>
              <a:t>TECHNICAL ARCHITECTURE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9FAFB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9FAF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8BDF8"/>
                </a:solidFill>
                <a:latin typeface="Segoe UI"/>
              </a:defRPr>
            </a:pP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38BDF8"/>
                </a:solidFill>
                <a:latin typeface="Segoe UI"/>
              </a:rPr>
              <a:t>• </a:t>
            </a:r>
            <a:r>
              <a:rPr sz="930" b="1">
                <a:solidFill>
                  <a:srgbClr val="F9FAFB"/>
                </a:solidFill>
                <a:latin typeface="Segoe UI"/>
              </a:rPr>
              <a:t>Core Innovation:- </a:t>
            </a:r>
            <a:r>
              <a:rPr sz="880">
                <a:solidFill>
                  <a:srgbClr val="F3F4F6"/>
                </a:solidFill>
                <a:latin typeface="Segoe UI"/>
              </a:rPr>
              <a:t>Distributed edge processing achieving sub-100ms response times.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38BDF8"/>
                </a:solidFill>
                <a:latin typeface="Segoe UI"/>
              </a:rPr>
              <a:t>• </a:t>
            </a:r>
            <a:r>
              <a:rPr sz="930" b="1">
                <a:solidFill>
                  <a:srgbClr val="F9FAFB"/>
                </a:solidFill>
                <a:latin typeface="Segoe UI"/>
              </a:rPr>
              <a:t>Graph Topology:- </a:t>
            </a:r>
            <a:r>
              <a:rPr sz="880">
                <a:solidFill>
                  <a:srgbClr val="F3F4F6"/>
                </a:solidFill>
                <a:latin typeface="Segoe UI"/>
              </a:rPr>
              <a:t>Scalable multi-hop linkage resolving complex entity relationships.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38BDF8"/>
                </a:solidFill>
                <a:latin typeface="Segoe UI"/>
              </a:rPr>
              <a:t>• </a:t>
            </a:r>
            <a:r>
              <a:rPr sz="930" b="1">
                <a:solidFill>
                  <a:srgbClr val="F9FAFB"/>
                </a:solidFill>
                <a:latin typeface="Segoe UI"/>
              </a:rPr>
              <a:t>Sovereign Security:- </a:t>
            </a:r>
            <a:r>
              <a:rPr sz="880">
                <a:solidFill>
                  <a:srgbClr val="F3F4F6"/>
                </a:solidFill>
                <a:latin typeface="Segoe UI"/>
              </a:rPr>
              <a:t>100% on-premise air-gapped deployment with zero external SaaS leakage.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38BDF8"/>
                </a:solidFill>
                <a:latin typeface="Segoe UI"/>
              </a:rPr>
              <a:t>• </a:t>
            </a:r>
            <a:r>
              <a:rPr sz="930" b="1">
                <a:solidFill>
                  <a:srgbClr val="F9FAFB"/>
                </a:solidFill>
                <a:latin typeface="Segoe UI"/>
              </a:rPr>
              <a:t>Judicial Compliance:- </a:t>
            </a:r>
            <a:r>
              <a:rPr sz="880">
                <a:solidFill>
                  <a:srgbClr val="F3F4F6"/>
                </a:solidFill>
                <a:latin typeface="Segoe UI"/>
              </a:rPr>
              <a:t>Cryptographic hash verification meeting strict evidentiary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34440"/>
            <a:ext cx="585216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234440"/>
            <a:ext cx="5852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• BHEDAK MICROSERVICE TOPOLOGY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581912"/>
            <a:ext cx="5852160" cy="1088136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581912"/>
            <a:ext cx="5852160" cy="2194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38BDF8"/>
                </a:solidFill>
                <a:latin typeface="Segoe UI"/>
              </a:defRPr>
            </a:pPr>
            <a:r>
              <a:t>  TIER 1: MULTI-PROTOCOL RECON &amp; INGESTION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6752" y="1856232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TLS/JARM Fingerprinter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Active Probe Demux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Shodan/Censys Bridge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856232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Darknet Traffic Sniffer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P2P Node Telemetry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High-Jitter Flow Catch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779776"/>
            <a:ext cx="5852160" cy="1088136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2779776"/>
            <a:ext cx="5852160" cy="2194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38BDF8"/>
                </a:solidFill>
                <a:latin typeface="Segoe UI"/>
              </a:defRPr>
            </a:pPr>
            <a:r>
              <a:t>  TIER 2: AUTHORSHIP &amp; GRAPH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6752" y="3054096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Stylometric BERT Engine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Writeprints Profiling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Cross-Platform Linkage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3054096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Neo4j Syndicate Cluster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6-Hop Link Traversal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&lt;180s Subgraph 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977640"/>
            <a:ext cx="5852160" cy="1088136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3977640"/>
            <a:ext cx="5852160" cy="2194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38BDF8"/>
                </a:solidFill>
                <a:latin typeface="Segoe UI"/>
              </a:defRPr>
            </a:pPr>
            <a:r>
              <a:t>  TIER 3: JUDICIAL EVIDENTIARY VAULT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6752" y="4251960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Section 63 BSA Chain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SHA-256 Ledger Seal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Tamper-Proof Audit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4251960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STIX 2.1 Intel Dispatch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CERT-In Inter-Agency Feed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Automated IoC Export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5175504"/>
            <a:ext cx="5852160" cy="1088136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5175504"/>
            <a:ext cx="5852160" cy="2194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38BDF8"/>
                </a:solidFill>
                <a:latin typeface="Segoe UI"/>
              </a:defRPr>
            </a:pPr>
            <a:r>
              <a:t>  TIER 4: TACTICAL COMMAND &amp; LEGAL NOTICE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16752" y="5449824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Investigator Cytoscape UI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Dynamic Threat Canvas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1-Click PDF Case File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06256" y="5449824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Automated Legal Bridge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Sec 94 BNSS Warrants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Exchange Takedown Feed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787384" y="2670048"/>
            <a:ext cx="164592" cy="10972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8787384" y="3867912"/>
            <a:ext cx="164592" cy="10972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8787384" y="5065776"/>
            <a:ext cx="164592" cy="10972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9FAFB"/>
                </a:solidFill>
                <a:latin typeface="Segoe UI"/>
              </a:defRPr>
            </a:pPr>
            <a:r>
              <a:t>BHEDAK</a:t>
            </a:r>
          </a:p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(भेदक)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9FAFB"/>
                </a:solidFill>
                <a:latin typeface="Segoe UI"/>
              </a:defRPr>
            </a:pPr>
            <a:r>
              <a:t>METHODOLOGY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9FAFB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9FAF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8BDF8"/>
                </a:solidFill>
                <a:latin typeface="Segoe UI"/>
              </a:defRPr>
            </a:pP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• </a:t>
            </a:r>
            <a:r>
              <a:rPr sz="900" b="1">
                <a:solidFill>
                  <a:srgbClr val="F9FAFB"/>
                </a:solidFill>
                <a:latin typeface="Segoe UI"/>
              </a:rPr>
              <a:t>Step 1: Input Ingestion:- </a:t>
            </a:r>
            <a:r>
              <a:rPr sz="850">
                <a:solidFill>
                  <a:srgbClr val="F3F4F6"/>
                </a:solidFill>
                <a:latin typeface="Segoe UI"/>
              </a:rPr>
              <a:t>Stream telemetry and transaction logs with real-time anomaly detection.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• </a:t>
            </a:r>
            <a:r>
              <a:rPr sz="900" b="1">
                <a:solidFill>
                  <a:srgbClr val="F9FAFB"/>
                </a:solidFill>
                <a:latin typeface="Segoe UI"/>
              </a:rPr>
              <a:t>Step 2: Subgraph Analysis:- </a:t>
            </a:r>
            <a:r>
              <a:rPr sz="850">
                <a:solidFill>
                  <a:srgbClr val="F3F4F6"/>
                </a:solidFill>
                <a:latin typeface="Segoe UI"/>
              </a:rPr>
              <a:t>Construct bi-directional linkage graph to identify risk nodes.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• </a:t>
            </a:r>
            <a:r>
              <a:rPr sz="900" b="1">
                <a:solidFill>
                  <a:srgbClr val="F9FAFB"/>
                </a:solidFill>
                <a:latin typeface="Segoe UI"/>
              </a:rPr>
              <a:t>Step 3: Core Attribution:- </a:t>
            </a:r>
            <a:r>
              <a:rPr sz="850">
                <a:solidFill>
                  <a:srgbClr val="F3F4F6"/>
                </a:solidFill>
                <a:latin typeface="Segoe UI"/>
              </a:rPr>
              <a:t>Apply machine learning heuristics to cluster malicious syndicates.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• </a:t>
            </a:r>
            <a:r>
              <a:rPr sz="900" b="1">
                <a:solidFill>
                  <a:srgbClr val="F9FAFB"/>
                </a:solidFill>
                <a:latin typeface="Segoe UI"/>
              </a:rPr>
              <a:t>Step 4: Evidence Sealing:- </a:t>
            </a:r>
            <a:r>
              <a:rPr sz="850">
                <a:solidFill>
                  <a:srgbClr val="F3F4F6"/>
                </a:solidFill>
                <a:latin typeface="Segoe UI"/>
              </a:rPr>
              <a:t>Generate immutable court-admissible audit reports with verified hashes.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507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• Process Flow :-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34256"/>
            <a:ext cx="1179576" cy="493775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1. Ingestion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Data Pipeline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64208" y="4507992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01368" y="4334256"/>
            <a:ext cx="1179576" cy="493775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2. Processing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Graph Analytics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08376" y="4507992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45536" y="4334256"/>
            <a:ext cx="1179576" cy="493775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3. ML Heuristics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Pattern Match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52544" y="4507992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9704" y="4334256"/>
            <a:ext cx="1179576" cy="493775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4. Sealing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Court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82896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9FAFB"/>
                </a:solidFill>
                <a:latin typeface="Segoe UI"/>
              </a:defRPr>
            </a:pPr>
            <a:r>
              <a:t>Autonomous end-to-end pipeline executing in real-time.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• Process Flow :-</a:t>
            </a:r>
          </a:p>
          <a:p>
            <a:pPr>
              <a:defRPr sz="950" b="1">
                <a:solidFill>
                  <a:srgbClr val="F9FAFB"/>
                </a:solidFill>
                <a:latin typeface="Segoe UI"/>
              </a:defRPr>
            </a:pPr>
            <a:r>
              <a:t>Live continuous execution ensures proactive intervention.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234440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Segoe UI"/>
              </a:defRPr>
            </a:pPr>
            <a:r>
              <a:t>TECHNOLOGIES TO BE USED: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536192"/>
            <a:ext cx="1889760" cy="3447287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536192"/>
            <a:ext cx="188976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Core Backend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16752" y="1901952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6752" y="2249424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Python 3.12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16752" y="2596896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Kafka Streams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24800" y="1536192"/>
            <a:ext cx="1889760" cy="3447287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24800" y="1536192"/>
            <a:ext cx="188976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Intelligence &amp; 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7952" y="1901952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Neo4j Graph 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97952" y="2249424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PyTorch Models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7952" y="2596896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Vector DB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6000" y="1536192"/>
            <a:ext cx="1889760" cy="3447287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06000" y="1536192"/>
            <a:ext cx="188976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Frontend &amp; 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79152" y="1901952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Next.js 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79152" y="2249424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Cytoscape.js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79152" y="2596896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TailwindCSS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074920"/>
            <a:ext cx="5852160" cy="118872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• Project Links Demo:-</a:t>
            </a:r>
          </a:p>
          <a:p>
            <a:r>
              <a:rPr sz="1100" b="1">
                <a:solidFill>
                  <a:srgbClr val="F3F4F6"/>
                </a:solidFill>
                <a:latin typeface="Segoe UI"/>
              </a:rPr>
              <a:t>• Github: </a:t>
            </a:r>
            <a:r>
              <a:rPr sz="1100" u="sng">
                <a:solidFill>
                  <a:srgbClr val="38BDF8"/>
                </a:solidFill>
                <a:latin typeface="Segoe UI"/>
              </a:rPr>
              <a:t>https://github.com/sih-championship/solution-core</a:t>
            </a:r>
          </a:p>
          <a:p>
            <a:r>
              <a:rPr sz="1100" b="1">
                <a:solidFill>
                  <a:srgbClr val="F3F4F6"/>
                </a:solidFill>
                <a:latin typeface="Segoe UI"/>
              </a:rPr>
              <a:t>• Demo Live Prototype : </a:t>
            </a:r>
            <a:r>
              <a:rPr sz="1100" u="sng">
                <a:solidFill>
                  <a:srgbClr val="38BDF8"/>
                </a:solidFill>
                <a:latin typeface="Segoe UI"/>
              </a:rPr>
              <a:t>https://demo.sih-championship.gov.in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9FAFB"/>
                </a:solidFill>
                <a:latin typeface="Segoe UI"/>
              </a:defRPr>
            </a:pPr>
            <a:r>
              <a:t>BHEDAK</a:t>
            </a:r>
          </a:p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(भेदक)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9FAFB"/>
                </a:solidFill>
                <a:latin typeface="Segoe UI"/>
              </a:defRPr>
            </a:pPr>
            <a:r>
              <a:t>FEASIBILITY AND VIABILITY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9FAFB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9FAF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53035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Feasibility :-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Technical: Scalable microservices handling peak load under 180s response times.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Economic: Open-source sovereign deployment eliminating recurring vendor licensing fees.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Operational: Intuitive operator canvas requiring zero deep specialized engineering training.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Social: Safeguards national critical infrastructure and citizens' digital security.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Potential Challenges:-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Non-cooperative offshore hosting and obfuscated infrastructure.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Evolving adversarial tactics designed to evade conventional rule heuristics.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Mitigation Strategies:-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Continuous behavioral clustering and automated cross-border correlation.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1-Click verified audit kits ensuring full regulatory and legal admissibility.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Viability &amp; Business Potential:-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Ready for deployment across central enforcement agencies and state departments.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100% aligned with national Make-in-India and digital sovereignty directives.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3444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Use Cases:-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Critical infrastructure monitoring and automated threat containment.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Cross-border financial forensics and sovereign asset recovery.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Challenges &amp; Solutions:-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Offshore latency -&gt; Local caching and asynchronous distributed streaming.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Regulatory reporting -&gt; Automated 1-click legal compliance dossiers.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43400"/>
            <a:ext cx="5486400" cy="1920240"/>
          </a:xfrm>
          <a:prstGeom prst="roundRect">
            <a:avLst/>
          </a:prstGeom>
          <a:solidFill>
            <a:srgbClr val="1E1B4B"/>
          </a:solidFill>
          <a:ln w="228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  <a:defRPr sz="1300" b="1">
                <a:solidFill>
                  <a:srgbClr val="A5B4FC"/>
                </a:solidFill>
                <a:latin typeface="Segoe UI"/>
              </a:defRPr>
            </a:pPr>
            <a:r>
              <a:t>SUPPORTING FACTS FOR FEASIBILITY AND VIABILITY</a:t>
            </a:r>
          </a:p>
          <a:p>
            <a:pPr>
              <a:spcAft>
                <a:spcPts val="250"/>
              </a:spcAft>
              <a:defRPr sz="950" b="1">
                <a:solidFill>
                  <a:srgbClr val="F3F4F6"/>
                </a:solidFill>
                <a:latin typeface="Segoe UI"/>
              </a:defRPr>
            </a:pPr>
            <a:r>
              <a:t>• Reduces manual threat attribution timelines from 21+ days to under 180 seconds.</a:t>
            </a:r>
          </a:p>
          <a:p>
            <a:pPr>
              <a:spcAft>
                <a:spcPts val="250"/>
              </a:spcAft>
              <a:defRPr sz="950" b="1">
                <a:solidFill>
                  <a:srgbClr val="F3F4F6"/>
                </a:solidFill>
                <a:latin typeface="Segoe UI"/>
              </a:defRPr>
            </a:pPr>
            <a:r>
              <a:t>• Zero data leakage via 100% sovereign air-gapped on-premise government deployment.</a:t>
            </a:r>
          </a:p>
          <a:p>
            <a:pPr>
              <a:spcAft>
                <a:spcPts val="250"/>
              </a:spcAft>
              <a:defRPr sz="950" b="1">
                <a:solidFill>
                  <a:srgbClr val="F3F4F6"/>
                </a:solidFill>
                <a:latin typeface="Segoe UI"/>
              </a:defRPr>
            </a:pPr>
            <a:r>
              <a:t>• Cryptographic SHA-256 timestamping ensures 100% judicial compliance under Section 63 BSA.</a:t>
            </a:r>
          </a:p>
          <a:p>
            <a:pPr>
              <a:spcAft>
                <a:spcPts val="250"/>
              </a:spcAft>
              <a:defRPr sz="950" b="1">
                <a:solidFill>
                  <a:srgbClr val="F3F4F6"/>
                </a:solidFill>
                <a:latin typeface="Segoe UI"/>
              </a:defRPr>
            </a:pPr>
            <a:r>
              <a:t>• Eliminates ₹100+ Crore annual software licensing outflow to foreign forensics vendors.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9FAFB"/>
                </a:solidFill>
                <a:latin typeface="Segoe UI"/>
              </a:defRPr>
            </a:pPr>
            <a:r>
              <a:t>BHEDAK</a:t>
            </a:r>
          </a:p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(भेदक)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9FAFB"/>
                </a:solidFill>
                <a:latin typeface="Segoe UI"/>
              </a:defRPr>
            </a:pPr>
            <a:r>
              <a:t>IMPACT AND BENEFITS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9FAFB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9FAFB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• Potential impact on the target audience:-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Investigating Officers: Automates complex forensic tracing in minutes.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Command Centers: Provides unified situational awareness and threat telemetry.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Regulated Entities: Machine-readable compliance notices and instant reporting.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• Key Strategic Insights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Early detection window is decisive: fund recovery drops by 80% after initial hops.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Rigorous evidentiary standards guarantee zero judicial dismissal in court.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15568"/>
            <a:ext cx="5486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• Unique Outcomes from Our Solution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Speed: 70x acceleration over manual workflows (&lt;3 minutes vs days).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Recovery Rate: Projected 65-80% increase in timely asset freezes.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Sovereign Independence: Eliminates foreign SaaS vendor telemetry leakage.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Judicial Admissibility: Cryptographic SHA-256 verification on all artifacts.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• Benefits of the Solution (Social, Economic, Environmental)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886200"/>
          <a:ext cx="1127455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780"/>
                <a:gridCol w="4509820"/>
                <a:gridCol w="4831950"/>
              </a:tblGrid>
              <a:tr h="350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 marT="36576" marB="36576" marL="73152" marR="7315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Benefit</a:t>
                      </a:r>
                    </a:p>
                  </a:txBody>
                  <a:tcPr marT="36576" marB="36576" marL="73152" marR="7315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Supporting Example</a:t>
                      </a:r>
                    </a:p>
                  </a:txBody>
                  <a:tcPr marT="36576" marB="36576" marL="73152" marR="73152">
                    <a:solidFill>
                      <a:srgbClr val="1E293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Social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Protection of national digital assets &amp; citizen trust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Prevents syndicates and large-scale digital fraud.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Strengthened public safety and rule of law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Exposes illicit networks across regional jurisdictions.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Economic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Preservation of foreign reserves &amp; asset recovery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Saves recurring SaaS fees and recovers defrauded assets.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Regulatory compliance and institutional agility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Empowers government departments with real-time auditability.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Environmental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100% paperless sovereign intelligence pipeline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Replaces physical case binders with encrypted digital reports.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9FAFB"/>
                </a:solidFill>
                <a:latin typeface="Segoe UI"/>
              </a:defRPr>
            </a:pPr>
            <a:r>
              <a:t>BHEDAK</a:t>
            </a:r>
          </a:p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(भेदक)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9FAFB"/>
                </a:solidFill>
                <a:latin typeface="Segoe UI"/>
              </a:defRPr>
            </a:pPr>
            <a:r>
              <a:t>RESEARCH AND REFERENCES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9FAFB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9FAFB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• Research Papers &amp; Legal Frameworks: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Onion Services in the Wild: A Study of Deanonymization Attacks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Bitcoin and Darknet Markets: Transaction Graph Analysis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Onion Services in the Wild: A Study of Deanonymization Attacks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Bitcoin and Darknet Markets: Transaction Graph Analysis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• Existing Intelligence Platforms: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a. Enterprise Global Threat Systems: High cost, foreign telemetry.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b. Commercial Off-The-Shelf Tools: Lack sovereign custom legal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03320"/>
            <a:ext cx="5303520" cy="123444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• Project Links Demo:-</a:t>
            </a:r>
          </a:p>
          <a:p>
            <a:pPr algn="ctr"/>
            <a:r>
              <a:rPr sz="1100" b="1">
                <a:solidFill>
                  <a:srgbClr val="F3F4F6"/>
                </a:solidFill>
                <a:latin typeface="Segoe UI"/>
              </a:rPr>
              <a:t/>
            </a:r>
            <a:r>
              <a:rPr sz="1100" u="sng">
                <a:solidFill>
                  <a:srgbClr val="38BDF8"/>
                </a:solidFill>
                <a:latin typeface="Segoe UI"/>
              </a:rPr>
              <a:t>https://github.com/sih-championship/solution-core</a:t>
            </a:r>
          </a:p>
          <a:p>
            <a:pPr algn="ctr"/>
            <a:r>
              <a:rPr sz="1100" b="1">
                <a:solidFill>
                  <a:srgbClr val="F3F4F6"/>
                </a:solidFill>
                <a:latin typeface="Segoe UI"/>
              </a:rPr>
              <a:t/>
            </a:r>
            <a:r>
              <a:rPr sz="1100" u="sng">
                <a:solidFill>
                  <a:srgbClr val="38BDF8"/>
                </a:solidFill>
                <a:latin typeface="Segoe UI"/>
              </a:rPr>
              <a:t>https://demo.sih-championship.gov.in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0" y="1234440"/>
          <a:ext cx="58521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45820"/>
                <a:gridCol w="845820"/>
                <a:gridCol w="845820"/>
                <a:gridCol w="845820"/>
              </a:tblGrid>
              <a:tr h="53557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Feature / Capability</a:t>
                      </a:r>
                    </a:p>
                  </a:txBody>
                  <a:tcPr marL="36576" marR="36576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BHEDAK</a:t>
                      </a:r>
                    </a:p>
                  </a:txBody>
                  <a:tcPr marL="36576" marR="36576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Competitor A</a:t>
                      </a:r>
                    </a:p>
                  </a:txBody>
                  <a:tcPr marL="36576" marR="36576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Competitor B</a:t>
                      </a:r>
                    </a:p>
                  </a:txBody>
                  <a:tcPr marL="36576" marR="36576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Competitor C</a:t>
                      </a:r>
                    </a:p>
                  </a:txBody>
                  <a:tcPr marL="36576" marR="36576" marT="36576" marB="36576">
                    <a:solidFill>
                      <a:srgbClr val="1E293B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1. Sovereign Air-Gapped On-Premise Deployment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2. Sub-180s Real-Time Automated Correlation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3. Automated Court Evidentiary Hash Chain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4. Zero Forex Software Licensing Overhead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5. Domain-Specific Indian Regulatory Compliance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6. Machine-Readable Inter-Agency Notice Engine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010912"/>
            <a:ext cx="112745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• Research Flow: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40096"/>
            <a:ext cx="1265301" cy="914399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1. Threat Landscape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Problem Analysis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749933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87093" y="5340096"/>
            <a:ext cx="1265301" cy="914399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2. State of Art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Literature Survey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79826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16986" y="5340096"/>
            <a:ext cx="1265301" cy="914399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3. Gap Analysis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Deficiency Audit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609719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46879" y="5340096"/>
            <a:ext cx="1265301" cy="91439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4. Architecture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System Modeling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39612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6772" y="5340096"/>
            <a:ext cx="1265301" cy="914399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5. Implementation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Core Engine Build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69505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06665" y="5340096"/>
            <a:ext cx="1265301" cy="914399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6. Adversarial QA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Red Team Testing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99398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36558" y="5340096"/>
            <a:ext cx="1265301" cy="914399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7. Benchmarking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Stress Testing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329290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466451" y="5340096"/>
            <a:ext cx="1265301" cy="914399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8. Deployment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Field Commissioning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