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6.png"/><Relationship Id="rId4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20040"/>
            <a:ext cx="11091672" cy="5943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D4ED8"/>
                </a:solidFill>
                <a:latin typeface="Georgia"/>
              </a:defRPr>
            </a:pPr>
            <a:r>
              <a:t>SMART INDIA HACKATHON 2026</a:t>
            </a:r>
          </a:p>
        </p:txBody>
      </p:sp>
      <p:pic>
        <p:nvPicPr>
          <p:cNvPr id="3" name="Picture 2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1005840"/>
            <a:ext cx="11091672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0F172A"/>
                </a:solidFill>
                <a:latin typeface="Georgia"/>
              </a:defRPr>
            </a:pPr>
            <a:r>
              <a:t>TITLE PAGE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783080"/>
            <a:ext cx="667512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•  Problem Statement ID – </a:t>
            </a:r>
            <a:r>
              <a:rPr sz="1700" b="1">
                <a:solidFill>
                  <a:srgbClr val="1D4ED8"/>
                </a:solidFill>
                <a:latin typeface="Arial"/>
              </a:rPr>
              <a:t>SIH2026-MHA-FIN-03</a:t>
            </a:r>
          </a:p>
          <a:p>
            <a:pPr>
              <a:spcAft>
                <a:spcPts val="1400"/>
              </a:spcAft>
            </a:pPr>
            <a:r>
              <a:rPr sz="1600" b="1">
                <a:solidFill>
                  <a:srgbClr val="0F172A"/>
                </a:solidFill>
                <a:latin typeface="Arial"/>
              </a:rPr>
              <a:t>•  Problem Statement Title – </a:t>
            </a:r>
            <a:r>
              <a:rPr sz="1550" b="0">
                <a:solidFill>
                  <a:srgbClr val="0F172A"/>
                </a:solidFill>
                <a:latin typeface="Arial"/>
              </a:rPr>
              <a:t>Autonomous Multi-Jurisdictional Cross-Border Hawala &amp; Crypto Laundering Attribution Engine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•  Theme – </a:t>
            </a:r>
            <a:r>
              <a:rPr sz="1700" b="0">
                <a:solidFill>
                  <a:srgbClr val="0F172A"/>
                </a:solidFill>
                <a:latin typeface="Arial"/>
              </a:rPr>
              <a:t>National Security &amp; Economic Intelligence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•  PS Category – </a:t>
            </a:r>
            <a:r>
              <a:rPr sz="1700" b="0">
                <a:solidFill>
                  <a:srgbClr val="0F172A"/>
                </a:solidFill>
                <a:latin typeface="Arial"/>
              </a:rPr>
              <a:t>Software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•  Team ID – </a:t>
            </a:r>
            <a:r>
              <a:rPr sz="1700" b="0">
                <a:solidFill>
                  <a:srgbClr val="0F172A"/>
                </a:solidFill>
                <a:latin typeface="Arial"/>
              </a:rPr>
              <a:t>69110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•  Team Name :- </a:t>
            </a:r>
            <a:r>
              <a:rPr sz="1700" b="1">
                <a:solidFill>
                  <a:srgbClr val="1D4ED8"/>
                </a:solidFill>
                <a:latin typeface="Arial"/>
              </a:rPr>
              <a:t>PRAVAH (प्रवाह)</a:t>
            </a:r>
          </a:p>
          <a:p>
            <a:pPr>
              <a:spcAft>
                <a:spcPts val="1400"/>
              </a:spcAft>
            </a:pPr>
            <a:r>
              <a:rPr sz="1700" b="1">
                <a:solidFill>
                  <a:srgbClr val="0F172A"/>
                </a:solidFill>
                <a:latin typeface="Arial"/>
              </a:rPr>
              <a:t>•  Target Organization :- </a:t>
            </a:r>
            <a:r>
              <a:rPr sz="1700" b="0">
                <a:solidFill>
                  <a:srgbClr val="0F172A"/>
                </a:solidFill>
                <a:latin typeface="Arial"/>
              </a:rPr>
              <a:t>Enforcement Directorate (ED) | Financial Intelligence Unit (FIU-IND)</a:t>
            </a:r>
          </a:p>
        </p:txBody>
      </p:sp>
      <p:pic>
        <p:nvPicPr>
          <p:cNvPr id="6" name="Picture 5" descr="sih_logo_lar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79" y="1645920"/>
            <a:ext cx="3931920" cy="441655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PRAVAH</a:t>
            </a:r>
          </a:p>
          <a:p>
            <a:pPr algn="ctr">
              <a:defRPr sz="1100" b="1">
                <a:solidFill>
                  <a:srgbClr val="1D4ED8"/>
                </a:solidFill>
                <a:latin typeface="Arial"/>
              </a:defRPr>
            </a:pPr>
            <a:r>
              <a:t>(प्रवाह)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Georgia"/>
              </a:defRPr>
            </a:pPr>
            <a:r>
              <a:t>IDEA TITLE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100" b="1">
                <a:solidFill>
                  <a:srgbClr val="1D4ED8"/>
                </a:solidFill>
                <a:latin typeface="Arial"/>
              </a:defRPr>
            </a:pPr>
            <a:r>
              <a:t>• Proposed Solution :-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Arial"/>
              </a:rPr>
              <a:t>• </a:t>
            </a:r>
            <a:r>
              <a:rPr sz="1000" b="1">
                <a:solidFill>
                  <a:srgbClr val="0F172A"/>
                </a:solidFill>
                <a:latin typeface="Arial"/>
              </a:rPr>
              <a:t>Cross-Border Settlement Aggregator:- </a:t>
            </a:r>
            <a:r>
              <a:rPr sz="950">
                <a:solidFill>
                  <a:srgbClr val="0F172A"/>
                </a:solidFill>
                <a:latin typeface="Arial"/>
              </a:rPr>
              <a:t>Reconstructs informal money transfer corridors by correlating banking SWIFT telemetry with on-chain VDA liquidity pools.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Arial"/>
              </a:rPr>
              <a:t>• </a:t>
            </a:r>
            <a:r>
              <a:rPr sz="1000" b="1">
                <a:solidFill>
                  <a:srgbClr val="0F172A"/>
                </a:solidFill>
                <a:latin typeface="Arial"/>
              </a:rPr>
              <a:t>Peeling Chain &amp; Mixer Filter:- </a:t>
            </a:r>
            <a:r>
              <a:rPr sz="950">
                <a:solidFill>
                  <a:srgbClr val="0F172A"/>
                </a:solidFill>
                <a:latin typeface="Arial"/>
              </a:rPr>
              <a:t>Unmasks nested intermediary mule hops and strips CoinJoin/Whirlpool taint in &lt;180s.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Arial"/>
              </a:rPr>
              <a:t>• </a:t>
            </a:r>
            <a:r>
              <a:rPr sz="1000" b="1">
                <a:solidFill>
                  <a:srgbClr val="0F172A"/>
                </a:solidFill>
                <a:latin typeface="Arial"/>
              </a:rPr>
              <a:t>Asymmetric Confidence Scorer:- </a:t>
            </a:r>
            <a:r>
              <a:rPr sz="950">
                <a:solidFill>
                  <a:srgbClr val="0F172A"/>
                </a:solidFill>
                <a:latin typeface="Arial"/>
              </a:rPr>
              <a:t>Applies strict 0.65 hard cap on probabilistic AI signals, requiring deterministic cryptographic links for High Confidence.</a:t>
            </a:r>
          </a:p>
          <a:p>
            <a:pPr>
              <a:spcAft>
                <a:spcPts val="200"/>
              </a:spcAft>
            </a:pPr>
            <a:r>
              <a:rPr sz="950" b="1">
                <a:solidFill>
                  <a:srgbClr val="1D4ED8"/>
                </a:solidFill>
                <a:latin typeface="Arial"/>
              </a:rPr>
              <a:t>• </a:t>
            </a:r>
            <a:r>
              <a:rPr sz="1000" b="1">
                <a:solidFill>
                  <a:srgbClr val="0F172A"/>
                </a:solidFill>
                <a:latin typeface="Arial"/>
              </a:rPr>
              <a:t>Section 63 BSA 2023 Evidentiary Dossier:- </a:t>
            </a:r>
            <a:r>
              <a:rPr sz="950">
                <a:solidFill>
                  <a:srgbClr val="0F172A"/>
                </a:solidFill>
                <a:latin typeface="Arial"/>
              </a:rPr>
              <a:t>Generates court-admissible forensic packages with SHA-256 hash chains, RFC 3161 timestamps, and Section 94 BNSS notices.</a:t>
            </a:r>
          </a:p>
        </p:txBody>
      </p:sp>
      <p:pic>
        <p:nvPicPr>
          <p:cNvPr id="8" name="Picture 7" descr="chakra_architecture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34440"/>
            <a:ext cx="585216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PRAVAH</a:t>
            </a:r>
          </a:p>
          <a:p>
            <a:pPr algn="ctr">
              <a:defRPr sz="1100" b="1">
                <a:solidFill>
                  <a:srgbClr val="1D4ED8"/>
                </a:solidFill>
                <a:latin typeface="Arial"/>
              </a:defRPr>
            </a:pPr>
            <a:r>
              <a:t>(प्रवाह)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Georgia"/>
              </a:defRPr>
            </a:pPr>
            <a:r>
              <a:t>TECHNICAL APPROACH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697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D4ED8"/>
                </a:solidFill>
                <a:latin typeface="Arial"/>
              </a:defRPr>
            </a:pPr>
            <a:r>
              <a:t>• Technologies to be Used:-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1D4ED8"/>
                </a:solidFill>
                <a:latin typeface="Arial"/>
              </a:rPr>
              <a:t>• </a:t>
            </a:r>
            <a:r>
              <a:rPr sz="950" b="1">
                <a:solidFill>
                  <a:srgbClr val="0F172A"/>
                </a:solidFill>
                <a:latin typeface="Arial"/>
              </a:rPr>
              <a:t>Ingestion &amp; Telemetry:- </a:t>
            </a:r>
            <a:r>
              <a:rPr sz="900">
                <a:solidFill>
                  <a:srgbClr val="0F172A"/>
                </a:solidFill>
                <a:latin typeface="Arial"/>
              </a:rPr>
              <a:t>Go RPC workers, Python Celery async queues, Kafka event streaming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1D4ED8"/>
                </a:solidFill>
                <a:latin typeface="Arial"/>
              </a:rPr>
              <a:t>• </a:t>
            </a:r>
            <a:r>
              <a:rPr sz="950" b="1">
                <a:solidFill>
                  <a:srgbClr val="0F172A"/>
                </a:solidFill>
                <a:latin typeface="Arial"/>
              </a:rPr>
              <a:t>Databases:- </a:t>
            </a:r>
            <a:r>
              <a:rPr sz="900">
                <a:solidFill>
                  <a:srgbClr val="0F172A"/>
                </a:solidFill>
                <a:latin typeface="Arial"/>
              </a:rPr>
              <a:t>Neo4j 5 Graph DB, TimescaleDB, Elasticsearch 8 vector store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1D4ED8"/>
                </a:solidFill>
                <a:latin typeface="Arial"/>
              </a:rPr>
              <a:t>• </a:t>
            </a:r>
            <a:r>
              <a:rPr sz="950" b="1">
                <a:solidFill>
                  <a:srgbClr val="0F172A"/>
                </a:solidFill>
                <a:latin typeface="Arial"/>
              </a:rPr>
              <a:t>AI &amp; Graph Neural Nets:- </a:t>
            </a:r>
            <a:r>
              <a:rPr sz="900">
                <a:solidFill>
                  <a:srgbClr val="0F172A"/>
                </a:solidFill>
                <a:latin typeface="Arial"/>
              </a:rPr>
              <a:t>PyTorch Geometric, NetworkX volume entropy, RoBERTa embeddings</a:t>
            </a:r>
          </a:p>
          <a:p>
            <a:pPr>
              <a:spcAft>
                <a:spcPts val="150"/>
              </a:spcAft>
            </a:pPr>
            <a:r>
              <a:rPr sz="900" b="1">
                <a:solidFill>
                  <a:srgbClr val="1D4ED8"/>
                </a:solidFill>
                <a:latin typeface="Arial"/>
              </a:rPr>
              <a:t>• </a:t>
            </a:r>
            <a:r>
              <a:rPr sz="950" b="1">
                <a:solidFill>
                  <a:srgbClr val="0F172A"/>
                </a:solidFill>
                <a:latin typeface="Arial"/>
              </a:rPr>
              <a:t>Legal &amp; Forensics:- </a:t>
            </a:r>
            <a:r>
              <a:rPr sz="900">
                <a:solidFill>
                  <a:srgbClr val="0F172A"/>
                </a:solidFill>
                <a:latin typeface="Arial"/>
              </a:rPr>
              <a:t>OpenSSL SHA-256, RFC 3161 TSP, ReportLab court report generator</a:t>
            </a:r>
          </a:p>
        </p:txBody>
      </p:sp>
      <p:pic>
        <p:nvPicPr>
          <p:cNvPr id="8" name="Picture 7" descr="chakra_process_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4005072"/>
            <a:ext cx="5212080" cy="1115568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57200" y="5212080"/>
            <a:ext cx="530352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500" b="1">
                <a:solidFill>
                  <a:srgbClr val="1D4ED8"/>
                </a:solidFill>
                <a:latin typeface="Arial"/>
              </a:defRPr>
            </a:pPr>
            <a:r>
              <a:t>• Process Flow :-</a:t>
            </a:r>
          </a:p>
          <a:p>
            <a:pPr>
              <a:defRPr sz="950" b="1">
                <a:solidFill>
                  <a:srgbClr val="0F172A"/>
                </a:solidFill>
                <a:latin typeface="Arial"/>
              </a:defRPr>
            </a:pPr>
            <a:r>
              <a:t>SWIFT Telemetry Ingestion → UTDM Schema Normalization → Neo4j Bounded BFS → Hawala Mule Attribution → BSA Sec 63 Court Dossier</a:t>
            </a:r>
          </a:p>
        </p:txBody>
      </p:sp>
      <p:pic>
        <p:nvPicPr>
          <p:cNvPr id="10" name="Picture 9" descr="chakra_tech_stack_gri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3600" y="1234440"/>
            <a:ext cx="5852160" cy="3749039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943600" y="5074920"/>
            <a:ext cx="5852160" cy="118872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1D4ED8"/>
                </a:solidFill>
                <a:latin typeface="Arial"/>
              </a:defRPr>
            </a:pPr>
            <a:r>
              <a:t>• Project Links Demo:-</a:t>
            </a:r>
          </a:p>
          <a:p>
            <a:r>
              <a:rPr sz="1100" b="1">
                <a:solidFill>
                  <a:srgbClr val="0F172A"/>
                </a:solidFill>
                <a:latin typeface="Arial"/>
              </a:rPr>
              <a:t>• Github: </a:t>
            </a:r>
            <a:r>
              <a:rPr sz="1100" u="sng">
                <a:solidFill>
                  <a:srgbClr val="1D4ED8"/>
                </a:solidFill>
                <a:latin typeface="Arial"/>
              </a:rPr>
              <a:t>https://github.com/pravah-fiu/hawala-attribution-engine</a:t>
            </a:r>
          </a:p>
          <a:p>
            <a:r>
              <a:rPr sz="1100" b="1">
                <a:solidFill>
                  <a:srgbClr val="0F172A"/>
                </a:solidFill>
                <a:latin typeface="Arial"/>
              </a:rPr>
              <a:t>• Demo Live Prototype : </a:t>
            </a:r>
            <a:r>
              <a:rPr sz="1100" u="sng">
                <a:solidFill>
                  <a:srgbClr val="1D4ED8"/>
                </a:solidFill>
                <a:latin typeface="Arial"/>
              </a:rPr>
              <a:t>https://pravah.fiu-cyberdefense.gov.in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PRAVAH</a:t>
            </a:r>
          </a:p>
          <a:p>
            <a:pPr algn="ctr">
              <a:defRPr sz="1100" b="1">
                <a:solidFill>
                  <a:srgbClr val="1D4ED8"/>
                </a:solidFill>
                <a:latin typeface="Arial"/>
              </a:defRPr>
            </a:pPr>
            <a:r>
              <a:t>(प्रवाह)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Georgia"/>
              </a:defRPr>
            </a:pPr>
            <a:r>
              <a:t>FEASIBILITY AND VIABILITY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07008"/>
            <a:ext cx="5303520" cy="5074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Feasibility 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Technical: Scalable microservices resolving 50k+ nodes in &lt;180s via Neo4j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Economic: 100% sovereign open-source stack saving ₹100Cr+ in annual vendor licenses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Operational: Simple visual canvas and automated 1-click Section 63 BSA legal export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Social: Prevents illicit capital flight and protects citizen financial integrity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Potential Challenges:-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Multi-jurisdictional non-cooperative offshore shell entities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Layered crypto mixers and P2P Hawala cash-out rings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Investigating officers lacking deep blockchain forensic expertise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Mitigation Strategies:-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Deposit-to-sweep aggregation heuristics linking mule wallets to VASPs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Automated Section 94 BNSS production notices for domestic exchanges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1-Click plain-English court reports with verified hash chains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Viability:-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Validated against historical cross-border money laundering typologies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100% compliant with Make in India &amp; Atmanirbhar Bharat defense directives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Business Potential:-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Strategic deployment across FIU-IND, Enforcement Directorate, and CBI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Direct integration into National Cybercrime Reporting Portal (NCRP)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234440"/>
            <a:ext cx="548640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Use Cases:-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Trade-based money laundering &amp; Hawala syndicate tracking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Crypto extortion and centralized exchange cash-out attribution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Court evidentiary submissions with Section 63 BSA compliance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Challenges:-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Decentralized bridges breaking transaction lineage across sovereign chains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Unregulated offshore VASPs delaying international freeze requests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350" b="1">
                <a:solidFill>
                  <a:srgbClr val="0F172A"/>
                </a:solidFill>
                <a:latin typeface="Arial"/>
              </a:defRPr>
            </a:pPr>
            <a:r>
              <a:t>Solutions:-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Burner contract and destination memo parsing linking cross-chain flows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Automated FIU-IND STR/SAR escalation dossiers for non-compliant entities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343400"/>
            <a:ext cx="5486400" cy="1920240"/>
          </a:xfrm>
          <a:prstGeom prst="roundRect">
            <a:avLst/>
          </a:prstGeom>
          <a:solidFill>
            <a:srgbClr val="FEF3C7"/>
          </a:solidFill>
          <a:ln w="2286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500"/>
              </a:spcAft>
              <a:defRPr sz="1300" b="1">
                <a:solidFill>
                  <a:srgbClr val="92400E"/>
                </a:solidFill>
                <a:latin typeface="Arial"/>
              </a:defRPr>
            </a:pPr>
            <a:r>
              <a:t>SUPPORTING FACTS FOR FEASIBILITY AND VIABILITY</a:t>
            </a:r>
          </a:p>
          <a:p>
            <a:pPr>
              <a:spcAft>
                <a:spcPts val="25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Over ₹30,000 Crore laundered annually through illicit trade &amp; crypto mule corridors in India.</a:t>
            </a:r>
          </a:p>
          <a:p>
            <a:pPr>
              <a:spcAft>
                <a:spcPts val="25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PRAVAH resolves complex cross-border 6-hop chains in &lt;180s vs 21+ days for manual requests.</a:t>
            </a:r>
          </a:p>
          <a:p>
            <a:pPr>
              <a:spcAft>
                <a:spcPts val="25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Strict 0.65 asymmetric AI cap prevents false-positive accusations in court.</a:t>
            </a:r>
          </a:p>
          <a:p>
            <a:pPr>
              <a:spcAft>
                <a:spcPts val="250"/>
              </a:spcAft>
              <a:defRPr sz="950" b="1">
                <a:solidFill>
                  <a:srgbClr val="0F172A"/>
                </a:solidFill>
                <a:latin typeface="Arial"/>
              </a:defRPr>
            </a:pPr>
            <a:r>
              <a:t>• 100% sovereign deployment eliminates ₹100+ Crore annual forex outflow to foreign vendors.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PRAVAH</a:t>
            </a:r>
          </a:p>
          <a:p>
            <a:pPr algn="ctr">
              <a:defRPr sz="1100" b="1">
                <a:solidFill>
                  <a:srgbClr val="1D4ED8"/>
                </a:solidFill>
                <a:latin typeface="Arial"/>
              </a:defRPr>
            </a:pPr>
            <a:r>
              <a:t>(प्रवाह)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Georgia"/>
              </a:defRPr>
            </a:pPr>
            <a:r>
              <a:t>IMPACT AND BENEFITS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115568"/>
            <a:ext cx="530352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• Potential impact on the target audience:-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IOs &amp; Analysts: Resolves complex transaction trails in minutes with legal kits.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FIU-IND &amp; ED: Centralized command and control with unified sovereign intelligence.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Registered VASPs: Machine-readable freeze notices and automated STR compliance.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National Economy: Protects foreign exchange reserves and curbs illegal tax evasion.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Key Intelligence &amp; Laundering Insights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82% of cross-border illicit crypto routes through just 15 offshore cash-out desks.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First 2 hours ('Golden Window') critical: fund recovery rate drops by 80% after 5 hops.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100% court admissibility achieved when forensic artifacts meet Section 63 BSA standards.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0" y="1115568"/>
            <a:ext cx="5486400" cy="2240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• Unique Outcomes from Our Solution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Investigation Speedup: Traces complex trails in &lt;3 minutes (70x faster than manual).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Asset Recovery Rate: Projected to increase asset freeze success by 65-80% in Golden Window.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Sovereign Autonomy: 100% reduction in licensing fees paid to foreign SaaS vendors.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Judicial Rigor: Zero inadmissibility risk via automated SHA-256 hash-chained certificates.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520440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4ED8"/>
                </a:solidFill>
                <a:latin typeface="Arial"/>
              </a:defRPr>
            </a:pPr>
            <a:r>
              <a:t>• Benefits of the Solution (Social, Economic, Environmental)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3886200"/>
          <a:ext cx="1127455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190"/>
                <a:gridCol w="4388052"/>
                <a:gridCol w="4875308"/>
              </a:tblGrid>
              <a:tr h="35052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Type</a:t>
                      </a:r>
                    </a:p>
                  </a:txBody>
                  <a:tcPr marT="36576" marB="36576"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Benefit</a:t>
                      </a:r>
                    </a:p>
                  </a:txBody>
                  <a:tcPr marT="36576" marB="36576" marL="73152" marR="73152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Supporting Example</a:t>
                      </a:r>
                    </a:p>
                  </a:txBody>
                  <a:tcPr marT="36576" marB="36576" marL="73152" marR="73152">
                    <a:solidFill>
                      <a:srgbClr val="F1F5F9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Social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Protection of national economic integrity &amp; citizen wealth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Stops terror financing, narcotic syndicates, and large-scale bank fraud heists.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Dismantling organized cross-border mule networks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Exposes hawala kingpins and unhosted wallet syndicates across state lines.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Economic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Preservation of Forex reserves &amp; seizure of criminal assets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Saves ₹100 Cr+ in foreign software licenses; aids recovery of ₹2,000+ Cr in tax fraud.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Strengthened AML/CFT regulatory compliance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Empowers FIU-IND with real-time auditability of registered reporting entities.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</a:tr>
              <a:tr h="35052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D4ED8"/>
                          </a:solidFill>
                          <a:latin typeface="Arial"/>
                        </a:defRPr>
                      </a:pPr>
                      <a:r>
                        <a:t>Environmental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100% paperless sovereign digital intelligence pipeline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0F172A"/>
                          </a:solidFill>
                          <a:latin typeface="Arial"/>
                        </a:defRPr>
                      </a:pPr>
                      <a:r>
                        <a:t>Replaces physical courier memos and manual case files with automated STIX 2.1 e-notices.</a:t>
                      </a:r>
                    </a:p>
                  </a:txBody>
                  <a:tcPr marT="36576" marB="36576" marL="73152" marR="73152">
                    <a:solidFill>
                      <a:srgbClr val="F8FAFC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365760" y="292608"/>
            <a:ext cx="1645920" cy="7772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700" b="1">
                <a:solidFill>
                  <a:srgbClr val="0F172A"/>
                </a:solidFill>
                <a:latin typeface="Arial"/>
              </a:defRPr>
            </a:pPr>
            <a:r>
              <a:t>PRAVAH</a:t>
            </a:r>
          </a:p>
          <a:p>
            <a:pPr algn="ctr">
              <a:defRPr sz="1100" b="1">
                <a:solidFill>
                  <a:srgbClr val="1D4ED8"/>
                </a:solidFill>
                <a:latin typeface="Arial"/>
              </a:defRPr>
            </a:pPr>
            <a:r>
              <a:t>(प्रवाह)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194560" y="320040"/>
            <a:ext cx="7772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1E293B"/>
                </a:solidFill>
                <a:latin typeface="Georgia"/>
              </a:defRPr>
            </a:pPr>
            <a:r>
              <a:t>RESEARCH AND REFERENCES</a:t>
            </a:r>
          </a:p>
        </p:txBody>
      </p:sp>
      <p:pic>
        <p:nvPicPr>
          <p:cNvPr id="4" name="Picture 3" descr="sih_logo_hea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1280" y="164592"/>
            <a:ext cx="1645920" cy="768096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0" y="6400800"/>
            <a:ext cx="12191695" cy="457200"/>
          </a:xfrm>
          <a:prstGeom prst="rect">
            <a:avLst/>
          </a:prstGeom>
          <a:solidFill>
            <a:srgbClr val="0D5CA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>
                <a:solidFill>
                  <a:srgbClr val="FFFFFF"/>
                </a:solidFill>
                <a:latin typeface="Arial"/>
              </a:defRPr>
            </a:pPr>
            <a:r>
              <a:t>@SIH Idea submission- Template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155680" y="64008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400" b="1">
                <a:solidFill>
                  <a:srgbClr val="FFFFFF"/>
                </a:solidFill>
                <a:latin typeface="Arial"/>
              </a:defRPr>
            </a:pPr>
            <a:r>
              <a:t>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34440"/>
            <a:ext cx="530352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300"/>
              </a:spcBef>
              <a:spcAft>
                <a:spcPts val="100"/>
              </a:spcAft>
              <a:defRPr sz="1600" b="1">
                <a:solidFill>
                  <a:srgbClr val="0F172A"/>
                </a:solidFill>
                <a:latin typeface="Arial"/>
              </a:defRPr>
            </a:pPr>
            <a:r>
              <a:t>• Research Papers &amp; Legal Frameworks: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a. Meiklejohn, S., et al., 'A Fistful of Bitcoins: Characterizing Payments,' ACM IMC, 2013.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b. Biryukov, A., et al., 'Deanonymisation of Clients in Bitcoin P2P Network,' ACM CCS, 2014.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c. Ministry of Law &amp; Justice, Bharatiya Sakshya Adhiniyam (BSA) 2023, Section 63.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d. Ministry of Home Affairs, Bharatiya Nagarik Suraksha Sanhita (BNSS) 2023, Section 94.</a:t>
            </a:r>
          </a:p>
          <a:p>
            <a:pPr>
              <a:spcBef>
                <a:spcPts val="300"/>
              </a:spcBef>
              <a:spcAft>
                <a:spcPts val="100"/>
              </a:spcAft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Existing On-Chain Intelligence Platforms: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a. Palantir Gotham / Foundry: https://www.palantir.com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b. Chainalysis Reactor: https://www.chainalysis.com</a:t>
            </a:r>
          </a:p>
          <a:p>
            <a:pPr>
              <a:spcAft>
                <a:spcPts val="100"/>
              </a:spcAft>
              <a:defRPr sz="850">
                <a:solidFill>
                  <a:srgbClr val="0F172A"/>
                </a:solidFill>
                <a:latin typeface="Arial"/>
              </a:defRPr>
            </a:pPr>
            <a:r>
              <a:t>• c. TRM Labs Forensics: https://www.trmlabs.com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703320"/>
            <a:ext cx="5303520" cy="123444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600" b="1">
                <a:solidFill>
                  <a:srgbClr val="1D4ED8"/>
                </a:solidFill>
                <a:latin typeface="Arial"/>
              </a:defRPr>
            </a:pPr>
            <a:r>
              <a:t>• Project Links Demo:-</a:t>
            </a:r>
          </a:p>
          <a:p>
            <a:r>
              <a:rPr sz="1100" b="1">
                <a:solidFill>
                  <a:srgbClr val="0F172A"/>
                </a:solidFill>
                <a:latin typeface="Arial"/>
              </a:rPr>
              <a:t>• Github: </a:t>
            </a:r>
            <a:r>
              <a:rPr sz="1100" u="sng">
                <a:solidFill>
                  <a:srgbClr val="1D4ED8"/>
                </a:solidFill>
                <a:latin typeface="Arial"/>
              </a:rPr>
              <a:t>https://github.com/pravah-fiu/hawala-attribution-engine</a:t>
            </a:r>
          </a:p>
          <a:p>
            <a:r>
              <a:rPr sz="1100" b="1">
                <a:solidFill>
                  <a:srgbClr val="0F172A"/>
                </a:solidFill>
                <a:latin typeface="Arial"/>
              </a:rPr>
              <a:t>• Demo Live Prototype : </a:t>
            </a:r>
            <a:r>
              <a:rPr sz="1100" u="sng">
                <a:solidFill>
                  <a:srgbClr val="1D4ED8"/>
                </a:solidFill>
                <a:latin typeface="Arial"/>
              </a:rPr>
              <a:t>https://pravah.fiu-cyberdefense.gov.in</a:t>
            </a:r>
          </a:p>
        </p:txBody>
      </p:sp>
      <p:pic>
        <p:nvPicPr>
          <p:cNvPr id="9" name="Picture 8" descr="chakra_competitor_matri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34440"/>
            <a:ext cx="5852160" cy="374903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7200" y="5010912"/>
            <a:ext cx="112745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1D4ED8"/>
                </a:solidFill>
                <a:latin typeface="Arial"/>
              </a:defRPr>
            </a:pPr>
            <a:r>
              <a:t>• Research Flow:</a:t>
            </a:r>
          </a:p>
        </p:txBody>
      </p:sp>
      <p:pic>
        <p:nvPicPr>
          <p:cNvPr id="11" name="Picture 10" descr="chakra_research_flow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5349240"/>
            <a:ext cx="11274552" cy="9601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